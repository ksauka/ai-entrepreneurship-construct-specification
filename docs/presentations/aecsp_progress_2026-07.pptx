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84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corpus (22,345)</c:v>
                </c:pt>
              </c:strCache>
            </c:strRef>
          </c:tx>
          <c:spPr>
            <a:ln w="22225" cap="rnd" cmpd="sng" algn="ctr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Sheet1!$A$2:$A$28</c:f>
              <c:strCache>
                <c:ptCount val="27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2026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136</c:v>
                </c:pt>
                <c:pt idx="1">
                  <c:v>150</c:v>
                </c:pt>
                <c:pt idx="2">
                  <c:v>143</c:v>
                </c:pt>
                <c:pt idx="3">
                  <c:v>136</c:v>
                </c:pt>
                <c:pt idx="4">
                  <c:v>164</c:v>
                </c:pt>
                <c:pt idx="5">
                  <c:v>180</c:v>
                </c:pt>
                <c:pt idx="6">
                  <c:v>226</c:v>
                </c:pt>
                <c:pt idx="7">
                  <c:v>211</c:v>
                </c:pt>
                <c:pt idx="8">
                  <c:v>231</c:v>
                </c:pt>
                <c:pt idx="9">
                  <c:v>229</c:v>
                </c:pt>
                <c:pt idx="10">
                  <c:v>217</c:v>
                </c:pt>
                <c:pt idx="11">
                  <c:v>198</c:v>
                </c:pt>
                <c:pt idx="12">
                  <c:v>255</c:v>
                </c:pt>
                <c:pt idx="13">
                  <c:v>268</c:v>
                </c:pt>
                <c:pt idx="14">
                  <c:v>284</c:v>
                </c:pt>
                <c:pt idx="15">
                  <c:v>271</c:v>
                </c:pt>
                <c:pt idx="16">
                  <c:v>284</c:v>
                </c:pt>
                <c:pt idx="17">
                  <c:v>412</c:v>
                </c:pt>
                <c:pt idx="18">
                  <c:v>447</c:v>
                </c:pt>
                <c:pt idx="19">
                  <c:v>618</c:v>
                </c:pt>
                <c:pt idx="20">
                  <c:v>894</c:v>
                </c:pt>
                <c:pt idx="21">
                  <c:v>1119</c:v>
                </c:pt>
                <c:pt idx="22">
                  <c:v>1432</c:v>
                </c:pt>
                <c:pt idx="23">
                  <c:v>1779</c:v>
                </c:pt>
                <c:pt idx="24">
                  <c:v>2722</c:v>
                </c:pt>
                <c:pt idx="25">
                  <c:v>3998</c:v>
                </c:pt>
                <c:pt idx="26">
                  <c:v>3771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899-489D-8D3F-C65233A51D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Strict AI x entrepreneurship (2,509)</c:v>
                </c:pt>
              </c:strCache>
            </c:strRef>
          </c:tx>
          <c:spPr>
            <a:ln w="22225" cap="rnd" cmpd="sng" algn="ctr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Sheet1!$A$2:$A$28</c:f>
              <c:strCache>
                <c:ptCount val="27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2026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11</c:v>
                </c:pt>
                <c:pt idx="1">
                  <c:v>8</c:v>
                </c:pt>
                <c:pt idx="2">
                  <c:v>3</c:v>
                </c:pt>
                <c:pt idx="3">
                  <c:v>7</c:v>
                </c:pt>
                <c:pt idx="4">
                  <c:v>16</c:v>
                </c:pt>
                <c:pt idx="5">
                  <c:v>9</c:v>
                </c:pt>
                <c:pt idx="6">
                  <c:v>21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12</c:v>
                </c:pt>
                <c:pt idx="13">
                  <c:v>21</c:v>
                </c:pt>
                <c:pt idx="14">
                  <c:v>23</c:v>
                </c:pt>
                <c:pt idx="15">
                  <c:v>18</c:v>
                </c:pt>
                <c:pt idx="16">
                  <c:v>25</c:v>
                </c:pt>
                <c:pt idx="17">
                  <c:v>32</c:v>
                </c:pt>
                <c:pt idx="18">
                  <c:v>30</c:v>
                </c:pt>
                <c:pt idx="19">
                  <c:v>53</c:v>
                </c:pt>
                <c:pt idx="20">
                  <c:v>68</c:v>
                </c:pt>
                <c:pt idx="21">
                  <c:v>95</c:v>
                </c:pt>
                <c:pt idx="22">
                  <c:v>157</c:v>
                </c:pt>
                <c:pt idx="23">
                  <c:v>241</c:v>
                </c:pt>
                <c:pt idx="24">
                  <c:v>379</c:v>
                </c:pt>
                <c:pt idx="25">
                  <c:v>569</c:v>
                </c:pt>
                <c:pt idx="26">
                  <c:v>578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899-489D-8D3F-C65233A51D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dropLines>
          <c:spPr>
            <a:ln w="9525" cap="flat" cmpd="sng" algn="ctr">
              <a:solidFill>
                <a:schemeClr val="dk1">
                  <a:lumMod val="35000"/>
                  <a:lumOff val="65000"/>
                  <a:alpha val="33000"/>
                </a:schemeClr>
              </a:solidFill>
              <a:round/>
            </a:ln>
            <a:effectLst/>
          </c:spPr>
        </c:dropLine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spc="2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spc="2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2118791784"/>
        <c:crosses val="autoZero"/>
        <c:crossBetween val="between"/>
      </c:valAx>
      <c:spPr>
        <a:gradFill>
          <a:gsLst>
            <a:gs pos="100000">
              <a:schemeClr val="lt1">
                <a:lumMod val="95000"/>
              </a:schemeClr>
            </a:gs>
            <a:gs pos="0">
              <a:schemeClr val="lt1"/>
            </a:gs>
          </a:gsLst>
          <a:lin ang="5400000" scaled="0"/>
        </a:gra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dk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LID4096"/>
        </a:p>
      </c:txPr>
    </c:legend>
    <c:plotVisOnly val="1"/>
    <c:dispBlanksAs val="gap"/>
    <c:showDLblsOverMax val="0"/>
  </c:chart>
  <c:spPr>
    <a:solidFill>
      <a:schemeClr val="lt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0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b="0" kern="1200" spc="20" baseline="0"/>
  </cs:categoryAxis>
  <cs:chartArea mods="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 cmpd="sng" algn="ctr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 cap="flat" cmpd="sng" algn="ctr">
        <a:solidFill>
          <a:schemeClr val="phClr"/>
        </a:solidFill>
        <a:round/>
      </a:ln>
    </cs:spPr>
  </cs:dataPointMarker>
  <cs:dataPointMarkerLayout symbol="circle" size="4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  <a:alpha val="33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>
        <a:solidFill>
          <a:schemeClr val="dk1">
            <a:lumMod val="15000"/>
            <a:lumOff val="85000"/>
          </a:schemeClr>
        </a:solidFill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  <cs:spPr>
      <a:gradFill>
        <a:gsLst>
          <a:gs pos="100000">
            <a:schemeClr val="lt1">
              <a:lumMod val="95000"/>
            </a:schemeClr>
          </a:gs>
          <a:gs pos="0">
            <a:schemeClr val="lt1"/>
          </a:gs>
        </a:gsLst>
        <a:lin ang="5400000" scaled="0"/>
      </a:gradFill>
    </cs:spPr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dk1">
        <a:lumMod val="50000"/>
        <a:lumOff val="50000"/>
      </a:schemeClr>
    </cs:fontRef>
    <cs:defRPr sz="1862" kern="1200" cap="none" spc="2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 spc="20" baseline="0"/>
  </cs:valueAxis>
  <cs:wall>
    <cs:lnRef idx="0"/>
    <cs:fillRef idx="0"/>
    <cs:effectRef idx="0"/>
    <cs:fontRef idx="minor">
      <a:schemeClr val="dk1"/>
    </cs:fontRef>
  </cs:wall>
</cs:chartStyle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AF23FA7-7D60-4EA8-981B-D8C71954BEB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929EFDC-5BE2-4A69-B1CD-171159B06171}">
      <dgm:prSet/>
      <dgm:spPr/>
      <dgm:t>
        <a:bodyPr/>
        <a:lstStyle/>
        <a:p>
          <a:r>
            <a:rPr lang="en-US" dirty="0"/>
            <a:t>►  "AI" enters entrepreneurship research as if it were a single stable variable, yet papers attach different meanings to the same label.</a:t>
          </a:r>
        </a:p>
      </dgm:t>
    </dgm:pt>
    <dgm:pt modelId="{80F6BA99-5087-46F8-8636-001388C080AB}" type="parTrans" cxnId="{5740EA9C-3D9E-46E0-B89D-680FFB3FC688}">
      <dgm:prSet/>
      <dgm:spPr/>
      <dgm:t>
        <a:bodyPr/>
        <a:lstStyle/>
        <a:p>
          <a:endParaRPr lang="en-US"/>
        </a:p>
      </dgm:t>
    </dgm:pt>
    <dgm:pt modelId="{1392C83E-6C3A-45D0-BDEB-5E199CAC4E57}" type="sibTrans" cxnId="{5740EA9C-3D9E-46E0-B89D-680FFB3FC688}">
      <dgm:prSet/>
      <dgm:spPr/>
      <dgm:t>
        <a:bodyPr/>
        <a:lstStyle/>
        <a:p>
          <a:endParaRPr lang="en-US"/>
        </a:p>
      </dgm:t>
    </dgm:pt>
    <dgm:pt modelId="{CAA2D9BA-C29F-4F5B-A463-86BF84218BE7}">
      <dgm:prSet/>
      <dgm:spPr/>
      <dgm:t>
        <a:bodyPr/>
        <a:lstStyle/>
        <a:p>
          <a:r>
            <a:rPr lang="en-US" dirty="0"/>
            <a:t>►  A paper treating AI as a prediction tool, one treating it as a firm capability, and one treating it as an autonomous actor are not making the same theoretical claim.</a:t>
          </a:r>
        </a:p>
      </dgm:t>
    </dgm:pt>
    <dgm:pt modelId="{45CF8DED-8096-4450-83D4-C926903C8FE7}" type="parTrans" cxnId="{C1C00905-53FB-4A92-A066-746C7A33DD66}">
      <dgm:prSet/>
      <dgm:spPr/>
      <dgm:t>
        <a:bodyPr/>
        <a:lstStyle/>
        <a:p>
          <a:endParaRPr lang="en-US"/>
        </a:p>
      </dgm:t>
    </dgm:pt>
    <dgm:pt modelId="{297DE398-2643-4101-8BDA-444A2F5A1AA2}" type="sibTrans" cxnId="{C1C00905-53FB-4A92-A066-746C7A33DD66}">
      <dgm:prSet/>
      <dgm:spPr/>
      <dgm:t>
        <a:bodyPr/>
        <a:lstStyle/>
        <a:p>
          <a:endParaRPr lang="en-US"/>
        </a:p>
      </dgm:t>
    </dgm:pt>
    <dgm:pt modelId="{A01551C3-FDA9-4A67-89DF-D86A72F81053}">
      <dgm:prSet/>
      <dgm:spPr/>
      <dgm:t>
        <a:bodyPr/>
        <a:lstStyle/>
        <a:p>
          <a:r>
            <a:rPr lang="en-US" dirty="0"/>
            <a:t>►  Effects are reported without causal logic ("AI improves entrepreneurship"); definitions, levels of analysis, and scope conditions are frequently absent.</a:t>
          </a:r>
        </a:p>
      </dgm:t>
    </dgm:pt>
    <dgm:pt modelId="{79D7941B-1D3B-493E-BA81-DD38124202FC}" type="parTrans" cxnId="{6AA5821C-6C6B-4DEC-AA02-A6B017AEADF2}">
      <dgm:prSet/>
      <dgm:spPr/>
      <dgm:t>
        <a:bodyPr/>
        <a:lstStyle/>
        <a:p>
          <a:endParaRPr lang="en-US"/>
        </a:p>
      </dgm:t>
    </dgm:pt>
    <dgm:pt modelId="{546488DD-BFA9-4CBA-A318-AC71A05D556F}" type="sibTrans" cxnId="{6AA5821C-6C6B-4DEC-AA02-A6B017AEADF2}">
      <dgm:prSet/>
      <dgm:spPr/>
      <dgm:t>
        <a:bodyPr/>
        <a:lstStyle/>
        <a:p>
          <a:endParaRPr lang="en-US"/>
        </a:p>
      </dgm:t>
    </dgm:pt>
    <dgm:pt modelId="{A62E2C6B-F803-492B-9AD5-5546B63AFCF7}">
      <dgm:prSet/>
      <dgm:spPr/>
      <dgm:t>
        <a:bodyPr/>
        <a:lstStyle/>
        <a:p>
          <a:r>
            <a:rPr lang="en-US"/>
            <a:t>►  Central claim: AI should not enter entrepreneurship theory as a generic enabling variable. It must be specified as a role-, mechanism-, level-, process-, and scope-dependent construct.</a:t>
          </a:r>
        </a:p>
      </dgm:t>
    </dgm:pt>
    <dgm:pt modelId="{CA76FD71-E74E-441D-8B88-2CAD53700D79}" type="parTrans" cxnId="{3A00B690-467F-4742-B337-6CDBCE36D851}">
      <dgm:prSet/>
      <dgm:spPr/>
      <dgm:t>
        <a:bodyPr/>
        <a:lstStyle/>
        <a:p>
          <a:endParaRPr lang="en-US"/>
        </a:p>
      </dgm:t>
    </dgm:pt>
    <dgm:pt modelId="{3FF3B04E-47AC-473B-AD77-9E8E19FE7797}" type="sibTrans" cxnId="{3A00B690-467F-4742-B337-6CDBCE36D851}">
      <dgm:prSet/>
      <dgm:spPr/>
      <dgm:t>
        <a:bodyPr/>
        <a:lstStyle/>
        <a:p>
          <a:endParaRPr lang="en-US"/>
        </a:p>
      </dgm:t>
    </dgm:pt>
    <dgm:pt modelId="{E5CEBD31-ED19-450E-8658-A4FE53FCDD86}">
      <dgm:prSet/>
      <dgm:spPr/>
      <dgm:t>
        <a:bodyPr/>
        <a:lstStyle/>
        <a:p>
          <a:r>
            <a:rPr lang="en-US"/>
            <a:t>►  The platform makes this specification problem visible, inspectable, and analytically defensible: traceable evidence, not narrative assertion.</a:t>
          </a:r>
        </a:p>
      </dgm:t>
    </dgm:pt>
    <dgm:pt modelId="{B3EEDE61-0858-43DC-A465-F0F71D645FEA}" type="parTrans" cxnId="{B64554BE-F637-42A1-B764-4F58C28D7AC4}">
      <dgm:prSet/>
      <dgm:spPr/>
      <dgm:t>
        <a:bodyPr/>
        <a:lstStyle/>
        <a:p>
          <a:endParaRPr lang="en-US"/>
        </a:p>
      </dgm:t>
    </dgm:pt>
    <dgm:pt modelId="{CBEE2C2E-A967-495F-82CA-687489C87E51}" type="sibTrans" cxnId="{B64554BE-F637-42A1-B764-4F58C28D7AC4}">
      <dgm:prSet/>
      <dgm:spPr/>
      <dgm:t>
        <a:bodyPr/>
        <a:lstStyle/>
        <a:p>
          <a:endParaRPr lang="en-US"/>
        </a:p>
      </dgm:t>
    </dgm:pt>
    <dgm:pt modelId="{00DBE0CB-09F8-48FB-8261-FFD111D11A2C}" type="pres">
      <dgm:prSet presAssocID="{DAF23FA7-7D60-4EA8-981B-D8C71954BEB4}" presName="linear" presStyleCnt="0">
        <dgm:presLayoutVars>
          <dgm:animLvl val="lvl"/>
          <dgm:resizeHandles val="exact"/>
        </dgm:presLayoutVars>
      </dgm:prSet>
      <dgm:spPr/>
    </dgm:pt>
    <dgm:pt modelId="{0ABD2DFD-F416-4836-A612-0A3CB0CE0BC4}" type="pres">
      <dgm:prSet presAssocID="{1929EFDC-5BE2-4A69-B1CD-171159B06171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83789812-BB94-4CE3-BD16-301175B7B0A5}" type="pres">
      <dgm:prSet presAssocID="{1392C83E-6C3A-45D0-BDEB-5E199CAC4E57}" presName="spacer" presStyleCnt="0"/>
      <dgm:spPr/>
    </dgm:pt>
    <dgm:pt modelId="{83A06D8E-CBA4-4E24-8799-84B4AC879453}" type="pres">
      <dgm:prSet presAssocID="{CAA2D9BA-C29F-4F5B-A463-86BF84218BE7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2659C921-E303-45A7-9464-2BD48A8C7D8D}" type="pres">
      <dgm:prSet presAssocID="{297DE398-2643-4101-8BDA-444A2F5A1AA2}" presName="spacer" presStyleCnt="0"/>
      <dgm:spPr/>
    </dgm:pt>
    <dgm:pt modelId="{63317655-9D91-48F4-B8B7-D7970CD58B43}" type="pres">
      <dgm:prSet presAssocID="{A01551C3-FDA9-4A67-89DF-D86A72F81053}" presName="parentText" presStyleLbl="node1" presStyleIdx="2" presStyleCnt="5" custLinFactNeighborY="-36721">
        <dgm:presLayoutVars>
          <dgm:chMax val="0"/>
          <dgm:bulletEnabled val="1"/>
        </dgm:presLayoutVars>
      </dgm:prSet>
      <dgm:spPr/>
    </dgm:pt>
    <dgm:pt modelId="{536C13B9-AC70-428F-896B-5449520A4101}" type="pres">
      <dgm:prSet presAssocID="{546488DD-BFA9-4CBA-A318-AC71A05D556F}" presName="spacer" presStyleCnt="0"/>
      <dgm:spPr/>
    </dgm:pt>
    <dgm:pt modelId="{0B11842D-227D-43DF-8FA2-E19B2B48FDB7}" type="pres">
      <dgm:prSet presAssocID="{A62E2C6B-F803-492B-9AD5-5546B63AFCF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C711F9F7-41DE-44BF-B2B3-897AFF064087}" type="pres">
      <dgm:prSet presAssocID="{3FF3B04E-47AC-473B-AD77-9E8E19FE7797}" presName="spacer" presStyleCnt="0"/>
      <dgm:spPr/>
    </dgm:pt>
    <dgm:pt modelId="{845C56DA-E454-42C6-A29E-61BECF4B1459}" type="pres">
      <dgm:prSet presAssocID="{E5CEBD31-ED19-450E-8658-A4FE53FCDD86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C1C00905-53FB-4A92-A066-746C7A33DD66}" srcId="{DAF23FA7-7D60-4EA8-981B-D8C71954BEB4}" destId="{CAA2D9BA-C29F-4F5B-A463-86BF84218BE7}" srcOrd="1" destOrd="0" parTransId="{45CF8DED-8096-4450-83D4-C926903C8FE7}" sibTransId="{297DE398-2643-4101-8BDA-444A2F5A1AA2}"/>
    <dgm:cxn modelId="{2EF23D1B-4347-4956-9107-84FFE9889DC4}" type="presOf" srcId="{E5CEBD31-ED19-450E-8658-A4FE53FCDD86}" destId="{845C56DA-E454-42C6-A29E-61BECF4B1459}" srcOrd="0" destOrd="0" presId="urn:microsoft.com/office/officeart/2005/8/layout/vList2"/>
    <dgm:cxn modelId="{6AA5821C-6C6B-4DEC-AA02-A6B017AEADF2}" srcId="{DAF23FA7-7D60-4EA8-981B-D8C71954BEB4}" destId="{A01551C3-FDA9-4A67-89DF-D86A72F81053}" srcOrd="2" destOrd="0" parTransId="{79D7941B-1D3B-493E-BA81-DD38124202FC}" sibTransId="{546488DD-BFA9-4CBA-A318-AC71A05D556F}"/>
    <dgm:cxn modelId="{9FFBAD2B-15BD-4DAB-A3E8-EC17BA09B837}" type="presOf" srcId="{1929EFDC-5BE2-4A69-B1CD-171159B06171}" destId="{0ABD2DFD-F416-4836-A612-0A3CB0CE0BC4}" srcOrd="0" destOrd="0" presId="urn:microsoft.com/office/officeart/2005/8/layout/vList2"/>
    <dgm:cxn modelId="{745EBF4B-09B5-438A-953E-BB04B6705831}" type="presOf" srcId="{A01551C3-FDA9-4A67-89DF-D86A72F81053}" destId="{63317655-9D91-48F4-B8B7-D7970CD58B43}" srcOrd="0" destOrd="0" presId="urn:microsoft.com/office/officeart/2005/8/layout/vList2"/>
    <dgm:cxn modelId="{3A00B690-467F-4742-B337-6CDBCE36D851}" srcId="{DAF23FA7-7D60-4EA8-981B-D8C71954BEB4}" destId="{A62E2C6B-F803-492B-9AD5-5546B63AFCF7}" srcOrd="3" destOrd="0" parTransId="{CA76FD71-E74E-441D-8B88-2CAD53700D79}" sibTransId="{3FF3B04E-47AC-473B-AD77-9E8E19FE7797}"/>
    <dgm:cxn modelId="{B397E096-0966-42AA-A8F8-E4E2C7B706EC}" type="presOf" srcId="{DAF23FA7-7D60-4EA8-981B-D8C71954BEB4}" destId="{00DBE0CB-09F8-48FB-8261-FFD111D11A2C}" srcOrd="0" destOrd="0" presId="urn:microsoft.com/office/officeart/2005/8/layout/vList2"/>
    <dgm:cxn modelId="{5740EA9C-3D9E-46E0-B89D-680FFB3FC688}" srcId="{DAF23FA7-7D60-4EA8-981B-D8C71954BEB4}" destId="{1929EFDC-5BE2-4A69-B1CD-171159B06171}" srcOrd="0" destOrd="0" parTransId="{80F6BA99-5087-46F8-8636-001388C080AB}" sibTransId="{1392C83E-6C3A-45D0-BDEB-5E199CAC4E57}"/>
    <dgm:cxn modelId="{B64554BE-F637-42A1-B764-4F58C28D7AC4}" srcId="{DAF23FA7-7D60-4EA8-981B-D8C71954BEB4}" destId="{E5CEBD31-ED19-450E-8658-A4FE53FCDD86}" srcOrd="4" destOrd="0" parTransId="{B3EEDE61-0858-43DC-A465-F0F71D645FEA}" sibTransId="{CBEE2C2E-A967-495F-82CA-687489C87E51}"/>
    <dgm:cxn modelId="{7C6C35CA-3F67-4FE3-A845-FFF6512A46AD}" type="presOf" srcId="{CAA2D9BA-C29F-4F5B-A463-86BF84218BE7}" destId="{83A06D8E-CBA4-4E24-8799-84B4AC879453}" srcOrd="0" destOrd="0" presId="urn:microsoft.com/office/officeart/2005/8/layout/vList2"/>
    <dgm:cxn modelId="{5E4819DF-93EA-48DC-A251-3255ACFB94DC}" type="presOf" srcId="{A62E2C6B-F803-492B-9AD5-5546B63AFCF7}" destId="{0B11842D-227D-43DF-8FA2-E19B2B48FDB7}" srcOrd="0" destOrd="0" presId="urn:microsoft.com/office/officeart/2005/8/layout/vList2"/>
    <dgm:cxn modelId="{4D398679-ABD1-4867-B6ED-7450714357E5}" type="presParOf" srcId="{00DBE0CB-09F8-48FB-8261-FFD111D11A2C}" destId="{0ABD2DFD-F416-4836-A612-0A3CB0CE0BC4}" srcOrd="0" destOrd="0" presId="urn:microsoft.com/office/officeart/2005/8/layout/vList2"/>
    <dgm:cxn modelId="{40B3DED1-C9D4-4DD2-A978-45901C5808D2}" type="presParOf" srcId="{00DBE0CB-09F8-48FB-8261-FFD111D11A2C}" destId="{83789812-BB94-4CE3-BD16-301175B7B0A5}" srcOrd="1" destOrd="0" presId="urn:microsoft.com/office/officeart/2005/8/layout/vList2"/>
    <dgm:cxn modelId="{DA4A28E9-8F1C-441D-B59E-419F34339235}" type="presParOf" srcId="{00DBE0CB-09F8-48FB-8261-FFD111D11A2C}" destId="{83A06D8E-CBA4-4E24-8799-84B4AC879453}" srcOrd="2" destOrd="0" presId="urn:microsoft.com/office/officeart/2005/8/layout/vList2"/>
    <dgm:cxn modelId="{611C1F4E-9D4F-41A1-B304-D9EECFC53254}" type="presParOf" srcId="{00DBE0CB-09F8-48FB-8261-FFD111D11A2C}" destId="{2659C921-E303-45A7-9464-2BD48A8C7D8D}" srcOrd="3" destOrd="0" presId="urn:microsoft.com/office/officeart/2005/8/layout/vList2"/>
    <dgm:cxn modelId="{93B88805-5987-45D0-A269-6D7270E4B475}" type="presParOf" srcId="{00DBE0CB-09F8-48FB-8261-FFD111D11A2C}" destId="{63317655-9D91-48F4-B8B7-D7970CD58B43}" srcOrd="4" destOrd="0" presId="urn:microsoft.com/office/officeart/2005/8/layout/vList2"/>
    <dgm:cxn modelId="{E2F9E931-26BC-4A31-BA25-F521F53C5FB7}" type="presParOf" srcId="{00DBE0CB-09F8-48FB-8261-FFD111D11A2C}" destId="{536C13B9-AC70-428F-896B-5449520A4101}" srcOrd="5" destOrd="0" presId="urn:microsoft.com/office/officeart/2005/8/layout/vList2"/>
    <dgm:cxn modelId="{D80411A1-DA08-4350-9C53-2078502732F2}" type="presParOf" srcId="{00DBE0CB-09F8-48FB-8261-FFD111D11A2C}" destId="{0B11842D-227D-43DF-8FA2-E19B2B48FDB7}" srcOrd="6" destOrd="0" presId="urn:microsoft.com/office/officeart/2005/8/layout/vList2"/>
    <dgm:cxn modelId="{E6AAEA69-2092-4C5C-9D34-462051DA8FC6}" type="presParOf" srcId="{00DBE0CB-09F8-48FB-8261-FFD111D11A2C}" destId="{C711F9F7-41DE-44BF-B2B3-897AFF064087}" srcOrd="7" destOrd="0" presId="urn:microsoft.com/office/officeart/2005/8/layout/vList2"/>
    <dgm:cxn modelId="{AB7AD418-0BCE-41DF-BC15-2DF1DA4B4EBA}" type="presParOf" srcId="{00DBE0CB-09F8-48FB-8261-FFD111D11A2C}" destId="{845C56DA-E454-42C6-A29E-61BECF4B1459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79C1F3F-8622-4A36-9B19-0886F5837CE0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CE7CDB60-6081-4139-88BA-9F0ED70EAB1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2"/>
              </a:solidFill>
            </a:rPr>
            <a:t>►  Hybrid phrase detection: </a:t>
          </a:r>
          <a:r>
            <a:rPr lang="en-US" dirty="0" err="1">
              <a:solidFill>
                <a:schemeClr val="bg2"/>
              </a:solidFill>
            </a:rPr>
            <a:t>KeyBERT</a:t>
          </a:r>
          <a:r>
            <a:rPr lang="en-US" dirty="0">
              <a:solidFill>
                <a:schemeClr val="bg2"/>
              </a:solidFill>
            </a:rPr>
            <a:t> + YAKE candidate </a:t>
          </a:r>
          <a:r>
            <a:rPr lang="en-US" dirty="0" err="1">
              <a:solidFill>
                <a:schemeClr val="bg2"/>
              </a:solidFill>
            </a:rPr>
            <a:t>keyphrases</a:t>
          </a:r>
          <a:r>
            <a:rPr lang="en-US" dirty="0">
              <a:solidFill>
                <a:schemeClr val="bg2"/>
              </a:solidFill>
            </a:rPr>
            <a:t>, filtered by semantic similarity (threshold 0.65) to 120 curated AI and entrepreneurship seed terms; </a:t>
          </a:r>
          <a:r>
            <a:rPr lang="en-US" dirty="0" err="1">
              <a:solidFill>
                <a:schemeClr val="bg2"/>
              </a:solidFill>
            </a:rPr>
            <a:t>gensim</a:t>
          </a:r>
          <a:r>
            <a:rPr lang="en-US" dirty="0">
              <a:solidFill>
                <a:schemeClr val="bg2"/>
              </a:solidFill>
            </a:rPr>
            <a:t> NPMI collocations add statistical phrases.</a:t>
          </a:r>
        </a:p>
      </dgm:t>
    </dgm:pt>
    <dgm:pt modelId="{9377DC00-294D-4B2D-A391-D4F65ADE3791}" type="parTrans" cxnId="{9B96D06C-BD1C-4EE6-A586-E94C1BDEA6CE}">
      <dgm:prSet/>
      <dgm:spPr/>
      <dgm:t>
        <a:bodyPr/>
        <a:lstStyle/>
        <a:p>
          <a:endParaRPr lang="en-US">
            <a:solidFill>
              <a:schemeClr val="bg2"/>
            </a:solidFill>
          </a:endParaRPr>
        </a:p>
      </dgm:t>
    </dgm:pt>
    <dgm:pt modelId="{DBF76B84-8E71-4279-A1C6-4BA57E94A6D8}" type="sibTrans" cxnId="{9B96D06C-BD1C-4EE6-A586-E94C1BDEA6CE}">
      <dgm:prSet/>
      <dgm:spPr/>
      <dgm:t>
        <a:bodyPr/>
        <a:lstStyle/>
        <a:p>
          <a:endParaRPr lang="en-US">
            <a:solidFill>
              <a:schemeClr val="bg2"/>
            </a:solidFill>
          </a:endParaRPr>
        </a:p>
      </dgm:t>
    </dgm:pt>
    <dgm:pt modelId="{1A78BBF4-2751-41AF-9717-D0F2B519048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2"/>
              </a:solidFill>
            </a:rPr>
            <a:t>►  </a:t>
          </a:r>
          <a:r>
            <a:rPr lang="en-US" dirty="0" err="1">
              <a:solidFill>
                <a:schemeClr val="bg2"/>
              </a:solidFill>
            </a:rPr>
            <a:t>BERTopic</a:t>
          </a:r>
          <a:r>
            <a:rPr lang="en-US" dirty="0">
              <a:solidFill>
                <a:schemeClr val="bg2"/>
              </a:solidFill>
            </a:rPr>
            <a:t> (</a:t>
          </a:r>
          <a:r>
            <a:rPr lang="en-US" dirty="0" err="1">
              <a:solidFill>
                <a:schemeClr val="bg2"/>
              </a:solidFill>
            </a:rPr>
            <a:t>MiniLM</a:t>
          </a:r>
          <a:r>
            <a:rPr lang="en-US" dirty="0">
              <a:solidFill>
                <a:schemeClr val="bg2"/>
              </a:solidFill>
            </a:rPr>
            <a:t> sentence embeddings + UMAP + HDBSCAN) on phrase-enhanced documents.</a:t>
          </a:r>
        </a:p>
      </dgm:t>
    </dgm:pt>
    <dgm:pt modelId="{8BB3EAFA-6D9F-4264-AAEC-E266D65ABFEE}" type="parTrans" cxnId="{84FF0C16-AB1B-4574-A538-2C088B7DB5A7}">
      <dgm:prSet/>
      <dgm:spPr/>
      <dgm:t>
        <a:bodyPr/>
        <a:lstStyle/>
        <a:p>
          <a:endParaRPr lang="en-US">
            <a:solidFill>
              <a:schemeClr val="bg2"/>
            </a:solidFill>
          </a:endParaRPr>
        </a:p>
      </dgm:t>
    </dgm:pt>
    <dgm:pt modelId="{909ED5B8-4178-49B5-B2D8-D5E24A096A6F}" type="sibTrans" cxnId="{84FF0C16-AB1B-4574-A538-2C088B7DB5A7}">
      <dgm:prSet/>
      <dgm:spPr/>
      <dgm:t>
        <a:bodyPr/>
        <a:lstStyle/>
        <a:p>
          <a:endParaRPr lang="en-US">
            <a:solidFill>
              <a:schemeClr val="bg2"/>
            </a:solidFill>
          </a:endParaRPr>
        </a:p>
      </dgm:t>
    </dgm:pt>
    <dgm:pt modelId="{279BD5F1-4762-42B6-822B-72DDD8A29DD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2"/>
              </a:solidFill>
            </a:rPr>
            <a:t>►  One GLOBAL model as the comparability backbone feeding the knowledge graph, plus NATIVE models per query view for each dataset's own structure.</a:t>
          </a:r>
        </a:p>
      </dgm:t>
    </dgm:pt>
    <dgm:pt modelId="{0CAC859D-2518-4F8E-A660-A3262FA69B6D}" type="parTrans" cxnId="{D70A9D49-E755-4704-A6C3-5F5825FB76AF}">
      <dgm:prSet/>
      <dgm:spPr/>
      <dgm:t>
        <a:bodyPr/>
        <a:lstStyle/>
        <a:p>
          <a:endParaRPr lang="en-US">
            <a:solidFill>
              <a:schemeClr val="bg2"/>
            </a:solidFill>
          </a:endParaRPr>
        </a:p>
      </dgm:t>
    </dgm:pt>
    <dgm:pt modelId="{058F6C18-764C-48B3-B5D6-1817C3FAE590}" type="sibTrans" cxnId="{D70A9D49-E755-4704-A6C3-5F5825FB76AF}">
      <dgm:prSet/>
      <dgm:spPr/>
      <dgm:t>
        <a:bodyPr/>
        <a:lstStyle/>
        <a:p>
          <a:endParaRPr lang="en-US">
            <a:solidFill>
              <a:schemeClr val="bg2"/>
            </a:solidFill>
          </a:endParaRPr>
        </a:p>
      </dgm:t>
    </dgm:pt>
    <dgm:pt modelId="{CC926270-B0FD-4946-B938-DEC58F44AF9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2"/>
              </a:solidFill>
            </a:rPr>
            <a:t>►  Topic-count selection is not automated: independent grid searches per scope write metric tables and diagnostic graphs; final parameters require explicit human approval.</a:t>
          </a:r>
        </a:p>
      </dgm:t>
    </dgm:pt>
    <dgm:pt modelId="{C5EB9BF3-1333-4A4A-BB38-56EB458C258D}" type="parTrans" cxnId="{FAE8A905-1086-46A4-A0D3-2777B7361F0D}">
      <dgm:prSet/>
      <dgm:spPr/>
      <dgm:t>
        <a:bodyPr/>
        <a:lstStyle/>
        <a:p>
          <a:endParaRPr lang="en-US">
            <a:solidFill>
              <a:schemeClr val="bg2"/>
            </a:solidFill>
          </a:endParaRPr>
        </a:p>
      </dgm:t>
    </dgm:pt>
    <dgm:pt modelId="{8A6535FE-B40C-4DF9-AEDE-3FC7F35BDB01}" type="sibTrans" cxnId="{FAE8A905-1086-46A4-A0D3-2777B7361F0D}">
      <dgm:prSet/>
      <dgm:spPr/>
      <dgm:t>
        <a:bodyPr/>
        <a:lstStyle/>
        <a:p>
          <a:endParaRPr lang="en-US">
            <a:solidFill>
              <a:schemeClr val="bg2"/>
            </a:solidFill>
          </a:endParaRPr>
        </a:p>
      </dgm:t>
    </dgm:pt>
    <dgm:pt modelId="{CBC02AEA-1FA6-4532-9444-75F0C08E73A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2"/>
              </a:solidFill>
            </a:rPr>
            <a:t>►  Expensive passes (phrase detection, embeddings) are checkpointed and reused across optimization and final runs.</a:t>
          </a:r>
        </a:p>
      </dgm:t>
    </dgm:pt>
    <dgm:pt modelId="{EB5EDF95-BBF8-4CBE-BC28-DD3E112DA3F8}" type="parTrans" cxnId="{AC20145A-6503-43D8-90E8-746B2FB5CB50}">
      <dgm:prSet/>
      <dgm:spPr/>
      <dgm:t>
        <a:bodyPr/>
        <a:lstStyle/>
        <a:p>
          <a:endParaRPr lang="en-US">
            <a:solidFill>
              <a:schemeClr val="bg2"/>
            </a:solidFill>
          </a:endParaRPr>
        </a:p>
      </dgm:t>
    </dgm:pt>
    <dgm:pt modelId="{198926F5-AD1B-44F0-AF3B-FC10435E1F22}" type="sibTrans" cxnId="{AC20145A-6503-43D8-90E8-746B2FB5CB50}">
      <dgm:prSet/>
      <dgm:spPr/>
      <dgm:t>
        <a:bodyPr/>
        <a:lstStyle/>
        <a:p>
          <a:endParaRPr lang="en-US">
            <a:solidFill>
              <a:schemeClr val="bg2"/>
            </a:solidFill>
          </a:endParaRPr>
        </a:p>
      </dgm:t>
    </dgm:pt>
    <dgm:pt modelId="{98EAA6BF-B072-4EBA-934F-06103CDCF5FB}" type="pres">
      <dgm:prSet presAssocID="{C79C1F3F-8622-4A36-9B19-0886F5837CE0}" presName="root" presStyleCnt="0">
        <dgm:presLayoutVars>
          <dgm:dir/>
          <dgm:resizeHandles val="exact"/>
        </dgm:presLayoutVars>
      </dgm:prSet>
      <dgm:spPr/>
    </dgm:pt>
    <dgm:pt modelId="{4BFFB1F1-027B-407F-ABB0-FB9E13CC10AE}" type="pres">
      <dgm:prSet presAssocID="{CE7CDB60-6081-4139-88BA-9F0ED70EAB1F}" presName="compNode" presStyleCnt="0"/>
      <dgm:spPr/>
    </dgm:pt>
    <dgm:pt modelId="{B11D2814-4007-48A6-95E9-57B7D3B50D02}" type="pres">
      <dgm:prSet presAssocID="{CE7CDB60-6081-4139-88BA-9F0ED70EAB1F}" presName="bgRect" presStyleLbl="bgShp" presStyleIdx="0" presStyleCnt="5"/>
      <dgm:spPr>
        <a:ln>
          <a:solidFill>
            <a:schemeClr val="accent2"/>
          </a:solidFill>
        </a:ln>
      </dgm:spPr>
    </dgm:pt>
    <dgm:pt modelId="{7FD2411C-7AE7-4895-AE60-CC7CC3C271D1}" type="pres">
      <dgm:prSet presAssocID="{CE7CDB60-6081-4139-88BA-9F0ED70EAB1F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solidFill>
            <a:schemeClr val="accent2"/>
          </a:solidFill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ACE53EF8-3F16-48C6-B753-A14E020979F7}" type="pres">
      <dgm:prSet presAssocID="{CE7CDB60-6081-4139-88BA-9F0ED70EAB1F}" presName="spaceRect" presStyleCnt="0"/>
      <dgm:spPr/>
    </dgm:pt>
    <dgm:pt modelId="{7042513C-B0DA-468B-933C-728A9359A67D}" type="pres">
      <dgm:prSet presAssocID="{CE7CDB60-6081-4139-88BA-9F0ED70EAB1F}" presName="parTx" presStyleLbl="revTx" presStyleIdx="0" presStyleCnt="5">
        <dgm:presLayoutVars>
          <dgm:chMax val="0"/>
          <dgm:chPref val="0"/>
        </dgm:presLayoutVars>
      </dgm:prSet>
      <dgm:spPr/>
    </dgm:pt>
    <dgm:pt modelId="{F7234C60-DDC9-48CD-AA36-A47A881FA53C}" type="pres">
      <dgm:prSet presAssocID="{DBF76B84-8E71-4279-A1C6-4BA57E94A6D8}" presName="sibTrans" presStyleCnt="0"/>
      <dgm:spPr/>
    </dgm:pt>
    <dgm:pt modelId="{A783986E-0D5E-48E3-9D3C-A3A4C82929EF}" type="pres">
      <dgm:prSet presAssocID="{1A78BBF4-2751-41AF-9717-D0F2B519048F}" presName="compNode" presStyleCnt="0"/>
      <dgm:spPr/>
    </dgm:pt>
    <dgm:pt modelId="{86B64262-AB37-44CB-806E-56C4C592E6D8}" type="pres">
      <dgm:prSet presAssocID="{1A78BBF4-2751-41AF-9717-D0F2B519048F}" presName="bgRect" presStyleLbl="bgShp" presStyleIdx="1" presStyleCnt="5"/>
      <dgm:spPr>
        <a:ln>
          <a:solidFill>
            <a:schemeClr val="accent2"/>
          </a:solidFill>
        </a:ln>
      </dgm:spPr>
    </dgm:pt>
    <dgm:pt modelId="{06B94159-26EB-4F42-B606-DB41E9D02730}" type="pres">
      <dgm:prSet presAssocID="{1A78BBF4-2751-41AF-9717-D0F2B519048F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solidFill>
            <a:schemeClr val="accent2"/>
          </a:solidFill>
        </a:ln>
      </dgm:spPr>
      <dgm:extLst>
        <a:ext uri="{E40237B7-FDA0-4F09-8148-C483321AD2D9}">
          <dgm14:cNvPr xmlns:dgm14="http://schemas.microsoft.com/office/drawing/2010/diagram" id="0" name="" descr="Open Quotation Mark"/>
        </a:ext>
      </dgm:extLst>
    </dgm:pt>
    <dgm:pt modelId="{11B4518D-E9DB-4682-A4C4-0758D3191EED}" type="pres">
      <dgm:prSet presAssocID="{1A78BBF4-2751-41AF-9717-D0F2B519048F}" presName="spaceRect" presStyleCnt="0"/>
      <dgm:spPr/>
    </dgm:pt>
    <dgm:pt modelId="{1C562049-C46A-49AC-BD93-C194E3BC49C8}" type="pres">
      <dgm:prSet presAssocID="{1A78BBF4-2751-41AF-9717-D0F2B519048F}" presName="parTx" presStyleLbl="revTx" presStyleIdx="1" presStyleCnt="5">
        <dgm:presLayoutVars>
          <dgm:chMax val="0"/>
          <dgm:chPref val="0"/>
        </dgm:presLayoutVars>
      </dgm:prSet>
      <dgm:spPr/>
    </dgm:pt>
    <dgm:pt modelId="{2F8558F9-D3C6-4C65-B337-CB6F21EF0599}" type="pres">
      <dgm:prSet presAssocID="{909ED5B8-4178-49B5-B2D8-D5E24A096A6F}" presName="sibTrans" presStyleCnt="0"/>
      <dgm:spPr/>
    </dgm:pt>
    <dgm:pt modelId="{07E363D9-44F3-4AD7-848A-9FB417A83C59}" type="pres">
      <dgm:prSet presAssocID="{279BD5F1-4762-42B6-822B-72DDD8A29DD6}" presName="compNode" presStyleCnt="0"/>
      <dgm:spPr/>
    </dgm:pt>
    <dgm:pt modelId="{3261C109-1E53-4AF6-ACCE-AC4F47DFE3B9}" type="pres">
      <dgm:prSet presAssocID="{279BD5F1-4762-42B6-822B-72DDD8A29DD6}" presName="bgRect" presStyleLbl="bgShp" presStyleIdx="2" presStyleCnt="5"/>
      <dgm:spPr/>
    </dgm:pt>
    <dgm:pt modelId="{548F8F6E-306A-4040-A76A-324A95767959}" type="pres">
      <dgm:prSet presAssocID="{279BD5F1-4762-42B6-822B-72DDD8A29DD6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solidFill>
            <a:schemeClr val="accent2"/>
          </a:solidFill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4EFE3D2E-611F-4830-AD64-6EA7727F2D55}" type="pres">
      <dgm:prSet presAssocID="{279BD5F1-4762-42B6-822B-72DDD8A29DD6}" presName="spaceRect" presStyleCnt="0"/>
      <dgm:spPr/>
    </dgm:pt>
    <dgm:pt modelId="{504F7256-4A8F-48E8-95D5-62A0715F99C5}" type="pres">
      <dgm:prSet presAssocID="{279BD5F1-4762-42B6-822B-72DDD8A29DD6}" presName="parTx" presStyleLbl="revTx" presStyleIdx="2" presStyleCnt="5">
        <dgm:presLayoutVars>
          <dgm:chMax val="0"/>
          <dgm:chPref val="0"/>
        </dgm:presLayoutVars>
      </dgm:prSet>
      <dgm:spPr/>
    </dgm:pt>
    <dgm:pt modelId="{082C6013-8F04-4641-9400-9383F5E78EC4}" type="pres">
      <dgm:prSet presAssocID="{058F6C18-764C-48B3-B5D6-1817C3FAE590}" presName="sibTrans" presStyleCnt="0"/>
      <dgm:spPr/>
    </dgm:pt>
    <dgm:pt modelId="{A4A221C1-4149-4D37-959D-1637D0265D3E}" type="pres">
      <dgm:prSet presAssocID="{CC926270-B0FD-4946-B938-DEC58F44AF9B}" presName="compNode" presStyleCnt="0"/>
      <dgm:spPr/>
    </dgm:pt>
    <dgm:pt modelId="{FEBC5886-D7F8-41C2-B8B9-5522FCB9945D}" type="pres">
      <dgm:prSet presAssocID="{CC926270-B0FD-4946-B938-DEC58F44AF9B}" presName="bgRect" presStyleLbl="bgShp" presStyleIdx="3" presStyleCnt="5"/>
      <dgm:spPr/>
    </dgm:pt>
    <dgm:pt modelId="{EFE7A228-80F0-4312-841C-00D2C50E383C}" type="pres">
      <dgm:prSet presAssocID="{CC926270-B0FD-4946-B938-DEC58F44AF9B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solidFill>
            <a:schemeClr val="accent2"/>
          </a:solidFill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E35BA010-1013-4961-9C9B-88B5073BFCF7}" type="pres">
      <dgm:prSet presAssocID="{CC926270-B0FD-4946-B938-DEC58F44AF9B}" presName="spaceRect" presStyleCnt="0"/>
      <dgm:spPr/>
    </dgm:pt>
    <dgm:pt modelId="{05AC2403-24D4-4184-91D8-00976FCD66D1}" type="pres">
      <dgm:prSet presAssocID="{CC926270-B0FD-4946-B938-DEC58F44AF9B}" presName="parTx" presStyleLbl="revTx" presStyleIdx="3" presStyleCnt="5">
        <dgm:presLayoutVars>
          <dgm:chMax val="0"/>
          <dgm:chPref val="0"/>
        </dgm:presLayoutVars>
      </dgm:prSet>
      <dgm:spPr/>
    </dgm:pt>
    <dgm:pt modelId="{739E434A-58E2-4713-8636-4A3124E488DA}" type="pres">
      <dgm:prSet presAssocID="{8A6535FE-B40C-4DF9-AEDE-3FC7F35BDB01}" presName="sibTrans" presStyleCnt="0"/>
      <dgm:spPr/>
    </dgm:pt>
    <dgm:pt modelId="{2825F826-8726-4C34-8EA3-A6B853BF6C67}" type="pres">
      <dgm:prSet presAssocID="{CBC02AEA-1FA6-4532-9444-75F0C08E73AE}" presName="compNode" presStyleCnt="0"/>
      <dgm:spPr/>
    </dgm:pt>
    <dgm:pt modelId="{BC5C2DCE-C47B-49CB-BF03-88099A8E3E86}" type="pres">
      <dgm:prSet presAssocID="{CBC02AEA-1FA6-4532-9444-75F0C08E73AE}" presName="bgRect" presStyleLbl="bgShp" presStyleIdx="4" presStyleCnt="5"/>
      <dgm:spPr/>
    </dgm:pt>
    <dgm:pt modelId="{9238D8DE-8F56-4C90-BF99-74397F878753}" type="pres">
      <dgm:prSet presAssocID="{CBC02AEA-1FA6-4532-9444-75F0C08E73AE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solidFill>
            <a:schemeClr val="accent2"/>
          </a:solidFill>
        </a:ln>
      </dgm:spPr>
      <dgm:extLst>
        <a:ext uri="{E40237B7-FDA0-4F09-8148-C483321AD2D9}">
          <dgm14:cNvPr xmlns:dgm14="http://schemas.microsoft.com/office/drawing/2010/diagram" id="0" name="" descr="Maze"/>
        </a:ext>
      </dgm:extLst>
    </dgm:pt>
    <dgm:pt modelId="{B4896757-BAD9-4406-97CE-DEC4ACBCC6CE}" type="pres">
      <dgm:prSet presAssocID="{CBC02AEA-1FA6-4532-9444-75F0C08E73AE}" presName="spaceRect" presStyleCnt="0"/>
      <dgm:spPr/>
    </dgm:pt>
    <dgm:pt modelId="{0DB4A383-408C-443F-B7D5-5D60808BB188}" type="pres">
      <dgm:prSet presAssocID="{CBC02AEA-1FA6-4532-9444-75F0C08E73AE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FAE8A905-1086-46A4-A0D3-2777B7361F0D}" srcId="{C79C1F3F-8622-4A36-9B19-0886F5837CE0}" destId="{CC926270-B0FD-4946-B938-DEC58F44AF9B}" srcOrd="3" destOrd="0" parTransId="{C5EB9BF3-1333-4A4A-BB38-56EB458C258D}" sibTransId="{8A6535FE-B40C-4DF9-AEDE-3FC7F35BDB01}"/>
    <dgm:cxn modelId="{78DACB05-0C16-4F37-8F07-F13ACBC6CF7E}" type="presOf" srcId="{C79C1F3F-8622-4A36-9B19-0886F5837CE0}" destId="{98EAA6BF-B072-4EBA-934F-06103CDCF5FB}" srcOrd="0" destOrd="0" presId="urn:microsoft.com/office/officeart/2018/2/layout/IconVerticalSolidList"/>
    <dgm:cxn modelId="{84FF0C16-AB1B-4574-A538-2C088B7DB5A7}" srcId="{C79C1F3F-8622-4A36-9B19-0886F5837CE0}" destId="{1A78BBF4-2751-41AF-9717-D0F2B519048F}" srcOrd="1" destOrd="0" parTransId="{8BB3EAFA-6D9F-4264-AAEC-E266D65ABFEE}" sibTransId="{909ED5B8-4178-49B5-B2D8-D5E24A096A6F}"/>
    <dgm:cxn modelId="{3F657165-0B55-4E2A-B546-0B0866D41853}" type="presOf" srcId="{1A78BBF4-2751-41AF-9717-D0F2B519048F}" destId="{1C562049-C46A-49AC-BD93-C194E3BC49C8}" srcOrd="0" destOrd="0" presId="urn:microsoft.com/office/officeart/2018/2/layout/IconVerticalSolidList"/>
    <dgm:cxn modelId="{D70A9D49-E755-4704-A6C3-5F5825FB76AF}" srcId="{C79C1F3F-8622-4A36-9B19-0886F5837CE0}" destId="{279BD5F1-4762-42B6-822B-72DDD8A29DD6}" srcOrd="2" destOrd="0" parTransId="{0CAC859D-2518-4F8E-A660-A3262FA69B6D}" sibTransId="{058F6C18-764C-48B3-B5D6-1817C3FAE590}"/>
    <dgm:cxn modelId="{9B96D06C-BD1C-4EE6-A586-E94C1BDEA6CE}" srcId="{C79C1F3F-8622-4A36-9B19-0886F5837CE0}" destId="{CE7CDB60-6081-4139-88BA-9F0ED70EAB1F}" srcOrd="0" destOrd="0" parTransId="{9377DC00-294D-4B2D-A391-D4F65ADE3791}" sibTransId="{DBF76B84-8E71-4279-A1C6-4BA57E94A6D8}"/>
    <dgm:cxn modelId="{6FE96B70-42CB-44DD-AC4B-13446A51353D}" type="presOf" srcId="{CE7CDB60-6081-4139-88BA-9F0ED70EAB1F}" destId="{7042513C-B0DA-468B-933C-728A9359A67D}" srcOrd="0" destOrd="0" presId="urn:microsoft.com/office/officeart/2018/2/layout/IconVerticalSolidList"/>
    <dgm:cxn modelId="{AC20145A-6503-43D8-90E8-746B2FB5CB50}" srcId="{C79C1F3F-8622-4A36-9B19-0886F5837CE0}" destId="{CBC02AEA-1FA6-4532-9444-75F0C08E73AE}" srcOrd="4" destOrd="0" parTransId="{EB5EDF95-BBF8-4CBE-BC28-DD3E112DA3F8}" sibTransId="{198926F5-AD1B-44F0-AF3B-FC10435E1F22}"/>
    <dgm:cxn modelId="{7DEEFE92-F4FA-4450-B100-CE335D4057D8}" type="presOf" srcId="{279BD5F1-4762-42B6-822B-72DDD8A29DD6}" destId="{504F7256-4A8F-48E8-95D5-62A0715F99C5}" srcOrd="0" destOrd="0" presId="urn:microsoft.com/office/officeart/2018/2/layout/IconVerticalSolidList"/>
    <dgm:cxn modelId="{A80EEE99-3658-49BE-815D-EEAF9FF9EF50}" type="presOf" srcId="{CBC02AEA-1FA6-4532-9444-75F0C08E73AE}" destId="{0DB4A383-408C-443F-B7D5-5D60808BB188}" srcOrd="0" destOrd="0" presId="urn:microsoft.com/office/officeart/2018/2/layout/IconVerticalSolidList"/>
    <dgm:cxn modelId="{CD3D7BE2-C3B7-4C90-A367-9915A37F2F02}" type="presOf" srcId="{CC926270-B0FD-4946-B938-DEC58F44AF9B}" destId="{05AC2403-24D4-4184-91D8-00976FCD66D1}" srcOrd="0" destOrd="0" presId="urn:microsoft.com/office/officeart/2018/2/layout/IconVerticalSolidList"/>
    <dgm:cxn modelId="{666796C8-545C-4817-99D9-E58ECD8C942B}" type="presParOf" srcId="{98EAA6BF-B072-4EBA-934F-06103CDCF5FB}" destId="{4BFFB1F1-027B-407F-ABB0-FB9E13CC10AE}" srcOrd="0" destOrd="0" presId="urn:microsoft.com/office/officeart/2018/2/layout/IconVerticalSolidList"/>
    <dgm:cxn modelId="{1BFBD4EF-F7B6-4A81-A847-EEC0F2915FD9}" type="presParOf" srcId="{4BFFB1F1-027B-407F-ABB0-FB9E13CC10AE}" destId="{B11D2814-4007-48A6-95E9-57B7D3B50D02}" srcOrd="0" destOrd="0" presId="urn:microsoft.com/office/officeart/2018/2/layout/IconVerticalSolidList"/>
    <dgm:cxn modelId="{781C6A49-4837-4D9C-B212-9B3B88BA9C62}" type="presParOf" srcId="{4BFFB1F1-027B-407F-ABB0-FB9E13CC10AE}" destId="{7FD2411C-7AE7-4895-AE60-CC7CC3C271D1}" srcOrd="1" destOrd="0" presId="urn:microsoft.com/office/officeart/2018/2/layout/IconVerticalSolidList"/>
    <dgm:cxn modelId="{9CE32A88-1ECA-45B1-A638-4180AE3DA3A9}" type="presParOf" srcId="{4BFFB1F1-027B-407F-ABB0-FB9E13CC10AE}" destId="{ACE53EF8-3F16-48C6-B753-A14E020979F7}" srcOrd="2" destOrd="0" presId="urn:microsoft.com/office/officeart/2018/2/layout/IconVerticalSolidList"/>
    <dgm:cxn modelId="{CC2940F4-FEC7-4E73-80CD-8E1470D38C51}" type="presParOf" srcId="{4BFFB1F1-027B-407F-ABB0-FB9E13CC10AE}" destId="{7042513C-B0DA-468B-933C-728A9359A67D}" srcOrd="3" destOrd="0" presId="urn:microsoft.com/office/officeart/2018/2/layout/IconVerticalSolidList"/>
    <dgm:cxn modelId="{E44259E9-2885-407C-963D-3EFD13C91C05}" type="presParOf" srcId="{98EAA6BF-B072-4EBA-934F-06103CDCF5FB}" destId="{F7234C60-DDC9-48CD-AA36-A47A881FA53C}" srcOrd="1" destOrd="0" presId="urn:microsoft.com/office/officeart/2018/2/layout/IconVerticalSolidList"/>
    <dgm:cxn modelId="{1FC2E7F8-063D-400D-8240-5A51DD4F9E9E}" type="presParOf" srcId="{98EAA6BF-B072-4EBA-934F-06103CDCF5FB}" destId="{A783986E-0D5E-48E3-9D3C-A3A4C82929EF}" srcOrd="2" destOrd="0" presId="urn:microsoft.com/office/officeart/2018/2/layout/IconVerticalSolidList"/>
    <dgm:cxn modelId="{88AF17F8-F7FD-4936-BE77-67E5B1D6B7C9}" type="presParOf" srcId="{A783986E-0D5E-48E3-9D3C-A3A4C82929EF}" destId="{86B64262-AB37-44CB-806E-56C4C592E6D8}" srcOrd="0" destOrd="0" presId="urn:microsoft.com/office/officeart/2018/2/layout/IconVerticalSolidList"/>
    <dgm:cxn modelId="{6AC40736-8981-4EAB-9FF7-03456AEB905A}" type="presParOf" srcId="{A783986E-0D5E-48E3-9D3C-A3A4C82929EF}" destId="{06B94159-26EB-4F42-B606-DB41E9D02730}" srcOrd="1" destOrd="0" presId="urn:microsoft.com/office/officeart/2018/2/layout/IconVerticalSolidList"/>
    <dgm:cxn modelId="{C6EB81B6-EF0F-4747-AD1C-012FE314A7F2}" type="presParOf" srcId="{A783986E-0D5E-48E3-9D3C-A3A4C82929EF}" destId="{11B4518D-E9DB-4682-A4C4-0758D3191EED}" srcOrd="2" destOrd="0" presId="urn:microsoft.com/office/officeart/2018/2/layout/IconVerticalSolidList"/>
    <dgm:cxn modelId="{CB7DB6B0-93BB-422F-A286-5AC2B218BD7B}" type="presParOf" srcId="{A783986E-0D5E-48E3-9D3C-A3A4C82929EF}" destId="{1C562049-C46A-49AC-BD93-C194E3BC49C8}" srcOrd="3" destOrd="0" presId="urn:microsoft.com/office/officeart/2018/2/layout/IconVerticalSolidList"/>
    <dgm:cxn modelId="{50011197-6E81-46D5-93F1-334DA7F81B7A}" type="presParOf" srcId="{98EAA6BF-B072-4EBA-934F-06103CDCF5FB}" destId="{2F8558F9-D3C6-4C65-B337-CB6F21EF0599}" srcOrd="3" destOrd="0" presId="urn:microsoft.com/office/officeart/2018/2/layout/IconVerticalSolidList"/>
    <dgm:cxn modelId="{07F1E5C8-6F99-4845-9BC1-9F60AC97CDDE}" type="presParOf" srcId="{98EAA6BF-B072-4EBA-934F-06103CDCF5FB}" destId="{07E363D9-44F3-4AD7-848A-9FB417A83C59}" srcOrd="4" destOrd="0" presId="urn:microsoft.com/office/officeart/2018/2/layout/IconVerticalSolidList"/>
    <dgm:cxn modelId="{78367180-765F-4FFB-A311-DB983D7CC17E}" type="presParOf" srcId="{07E363D9-44F3-4AD7-848A-9FB417A83C59}" destId="{3261C109-1E53-4AF6-ACCE-AC4F47DFE3B9}" srcOrd="0" destOrd="0" presId="urn:microsoft.com/office/officeart/2018/2/layout/IconVerticalSolidList"/>
    <dgm:cxn modelId="{0FC1C8CF-4353-490C-9FB8-44A34D288A9B}" type="presParOf" srcId="{07E363D9-44F3-4AD7-848A-9FB417A83C59}" destId="{548F8F6E-306A-4040-A76A-324A95767959}" srcOrd="1" destOrd="0" presId="urn:microsoft.com/office/officeart/2018/2/layout/IconVerticalSolidList"/>
    <dgm:cxn modelId="{2722A2DD-EA0B-4E4B-B903-E3FCA7D9FE13}" type="presParOf" srcId="{07E363D9-44F3-4AD7-848A-9FB417A83C59}" destId="{4EFE3D2E-611F-4830-AD64-6EA7727F2D55}" srcOrd="2" destOrd="0" presId="urn:microsoft.com/office/officeart/2018/2/layout/IconVerticalSolidList"/>
    <dgm:cxn modelId="{1A2C2F53-6412-4275-9FFE-DDDD2D143451}" type="presParOf" srcId="{07E363D9-44F3-4AD7-848A-9FB417A83C59}" destId="{504F7256-4A8F-48E8-95D5-62A0715F99C5}" srcOrd="3" destOrd="0" presId="urn:microsoft.com/office/officeart/2018/2/layout/IconVerticalSolidList"/>
    <dgm:cxn modelId="{6C90BD55-7876-4CB3-BC40-6D41091A4FA8}" type="presParOf" srcId="{98EAA6BF-B072-4EBA-934F-06103CDCF5FB}" destId="{082C6013-8F04-4641-9400-9383F5E78EC4}" srcOrd="5" destOrd="0" presId="urn:microsoft.com/office/officeart/2018/2/layout/IconVerticalSolidList"/>
    <dgm:cxn modelId="{1CCDB30B-0BCA-4F04-ACCC-B35094F246E5}" type="presParOf" srcId="{98EAA6BF-B072-4EBA-934F-06103CDCF5FB}" destId="{A4A221C1-4149-4D37-959D-1637D0265D3E}" srcOrd="6" destOrd="0" presId="urn:microsoft.com/office/officeart/2018/2/layout/IconVerticalSolidList"/>
    <dgm:cxn modelId="{34FF5EBB-E40C-40A6-8DF5-9808021B5FF5}" type="presParOf" srcId="{A4A221C1-4149-4D37-959D-1637D0265D3E}" destId="{FEBC5886-D7F8-41C2-B8B9-5522FCB9945D}" srcOrd="0" destOrd="0" presId="urn:microsoft.com/office/officeart/2018/2/layout/IconVerticalSolidList"/>
    <dgm:cxn modelId="{E7087699-E2B6-43BD-8214-CA5DDF2D3A05}" type="presParOf" srcId="{A4A221C1-4149-4D37-959D-1637D0265D3E}" destId="{EFE7A228-80F0-4312-841C-00D2C50E383C}" srcOrd="1" destOrd="0" presId="urn:microsoft.com/office/officeart/2018/2/layout/IconVerticalSolidList"/>
    <dgm:cxn modelId="{D2161832-3FA1-48A7-99D4-1F97348954FD}" type="presParOf" srcId="{A4A221C1-4149-4D37-959D-1637D0265D3E}" destId="{E35BA010-1013-4961-9C9B-88B5073BFCF7}" srcOrd="2" destOrd="0" presId="urn:microsoft.com/office/officeart/2018/2/layout/IconVerticalSolidList"/>
    <dgm:cxn modelId="{86BB89DD-498C-45A1-95FB-D1901481F3B4}" type="presParOf" srcId="{A4A221C1-4149-4D37-959D-1637D0265D3E}" destId="{05AC2403-24D4-4184-91D8-00976FCD66D1}" srcOrd="3" destOrd="0" presId="urn:microsoft.com/office/officeart/2018/2/layout/IconVerticalSolidList"/>
    <dgm:cxn modelId="{F781C63E-EB23-4A6D-810E-F1BEE6B8D95E}" type="presParOf" srcId="{98EAA6BF-B072-4EBA-934F-06103CDCF5FB}" destId="{739E434A-58E2-4713-8636-4A3124E488DA}" srcOrd="7" destOrd="0" presId="urn:microsoft.com/office/officeart/2018/2/layout/IconVerticalSolidList"/>
    <dgm:cxn modelId="{6F14044A-581A-4DF0-AA5D-CF594A2B07CC}" type="presParOf" srcId="{98EAA6BF-B072-4EBA-934F-06103CDCF5FB}" destId="{2825F826-8726-4C34-8EA3-A6B853BF6C67}" srcOrd="8" destOrd="0" presId="urn:microsoft.com/office/officeart/2018/2/layout/IconVerticalSolidList"/>
    <dgm:cxn modelId="{B8C51AD5-6513-4AD2-AFE6-06A43B1BF5B5}" type="presParOf" srcId="{2825F826-8726-4C34-8EA3-A6B853BF6C67}" destId="{BC5C2DCE-C47B-49CB-BF03-88099A8E3E86}" srcOrd="0" destOrd="0" presId="urn:microsoft.com/office/officeart/2018/2/layout/IconVerticalSolidList"/>
    <dgm:cxn modelId="{5B764FDD-B5E8-495D-8A2F-7DA1C8401244}" type="presParOf" srcId="{2825F826-8726-4C34-8EA3-A6B853BF6C67}" destId="{9238D8DE-8F56-4C90-BF99-74397F878753}" srcOrd="1" destOrd="0" presId="urn:microsoft.com/office/officeart/2018/2/layout/IconVerticalSolidList"/>
    <dgm:cxn modelId="{BB07989D-9B31-4648-8684-4C5FBE6FD2DA}" type="presParOf" srcId="{2825F826-8726-4C34-8EA3-A6B853BF6C67}" destId="{B4896757-BAD9-4406-97CE-DEC4ACBCC6CE}" srcOrd="2" destOrd="0" presId="urn:microsoft.com/office/officeart/2018/2/layout/IconVerticalSolidList"/>
    <dgm:cxn modelId="{E9BD6AD3-6930-4E3B-B4C2-7A3699FD7C54}" type="presParOf" srcId="{2825F826-8726-4C34-8EA3-A6B853BF6C67}" destId="{0DB4A383-408C-443F-B7D5-5D60808BB18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BD2DFD-F416-4836-A612-0A3CB0CE0BC4}">
      <dsp:nvSpPr>
        <dsp:cNvPr id="0" name=""/>
        <dsp:cNvSpPr/>
      </dsp:nvSpPr>
      <dsp:spPr>
        <a:xfrm>
          <a:off x="0" y="358223"/>
          <a:ext cx="9080090" cy="617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►  "AI" enters entrepreneurship research as if it were a single stable variable, yet papers attach different meanings to the same label.</a:t>
          </a:r>
        </a:p>
      </dsp:txBody>
      <dsp:txXfrm>
        <a:off x="30157" y="388380"/>
        <a:ext cx="9019776" cy="557446"/>
      </dsp:txXfrm>
    </dsp:sp>
    <dsp:sp modelId="{83A06D8E-CBA4-4E24-8799-84B4AC879453}">
      <dsp:nvSpPr>
        <dsp:cNvPr id="0" name=""/>
        <dsp:cNvSpPr/>
      </dsp:nvSpPr>
      <dsp:spPr>
        <a:xfrm>
          <a:off x="0" y="1022064"/>
          <a:ext cx="9080090" cy="617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►  A paper treating AI as a prediction tool, one treating it as a firm capability, and one treating it as an autonomous actor are not making the same theoretical claim.</a:t>
          </a:r>
        </a:p>
      </dsp:txBody>
      <dsp:txXfrm>
        <a:off x="30157" y="1052221"/>
        <a:ext cx="9019776" cy="557446"/>
      </dsp:txXfrm>
    </dsp:sp>
    <dsp:sp modelId="{63317655-9D91-48F4-B8B7-D7970CD58B43}">
      <dsp:nvSpPr>
        <dsp:cNvPr id="0" name=""/>
        <dsp:cNvSpPr/>
      </dsp:nvSpPr>
      <dsp:spPr>
        <a:xfrm>
          <a:off x="0" y="1668982"/>
          <a:ext cx="9080090" cy="617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►  Effects are reported without causal logic ("AI improves entrepreneurship"); definitions, levels of analysis, and scope conditions are frequently absent.</a:t>
          </a:r>
        </a:p>
      </dsp:txBody>
      <dsp:txXfrm>
        <a:off x="30157" y="1699139"/>
        <a:ext cx="9019776" cy="557446"/>
      </dsp:txXfrm>
    </dsp:sp>
    <dsp:sp modelId="{0B11842D-227D-43DF-8FA2-E19B2B48FDB7}">
      <dsp:nvSpPr>
        <dsp:cNvPr id="0" name=""/>
        <dsp:cNvSpPr/>
      </dsp:nvSpPr>
      <dsp:spPr>
        <a:xfrm>
          <a:off x="0" y="2349744"/>
          <a:ext cx="9080090" cy="617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►  Central claim: AI should not enter entrepreneurship theory as a generic enabling variable. It must be specified as a role-, mechanism-, level-, process-, and scope-dependent construct.</a:t>
          </a:r>
        </a:p>
      </dsp:txBody>
      <dsp:txXfrm>
        <a:off x="30157" y="2379901"/>
        <a:ext cx="9019776" cy="557446"/>
      </dsp:txXfrm>
    </dsp:sp>
    <dsp:sp modelId="{845C56DA-E454-42C6-A29E-61BECF4B1459}">
      <dsp:nvSpPr>
        <dsp:cNvPr id="0" name=""/>
        <dsp:cNvSpPr/>
      </dsp:nvSpPr>
      <dsp:spPr>
        <a:xfrm>
          <a:off x="0" y="3013584"/>
          <a:ext cx="9080090" cy="617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►  The platform makes this specification problem visible, inspectable, and analytically defensible: traceable evidence, not narrative assertion.</a:t>
          </a:r>
        </a:p>
      </dsp:txBody>
      <dsp:txXfrm>
        <a:off x="30157" y="3043741"/>
        <a:ext cx="9019776" cy="55744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1D2814-4007-48A6-95E9-57B7D3B50D02}">
      <dsp:nvSpPr>
        <dsp:cNvPr id="0" name=""/>
        <dsp:cNvSpPr/>
      </dsp:nvSpPr>
      <dsp:spPr>
        <a:xfrm>
          <a:off x="0" y="2911"/>
          <a:ext cx="9605176" cy="620225"/>
        </a:xfrm>
        <a:prstGeom prst="roundRect">
          <a:avLst>
            <a:gd name="adj" fmla="val 10000"/>
          </a:avLst>
        </a:prstGeom>
        <a:solidFill>
          <a:schemeClr val="accent1">
            <a:tint val="55000"/>
            <a:hueOff val="0"/>
            <a:satOff val="0"/>
            <a:lumOff val="0"/>
            <a:alphaOff val="0"/>
          </a:schemeClr>
        </a:solidFill>
        <a:ln>
          <a:solidFill>
            <a:schemeClr val="accent2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D2411C-7AE7-4895-AE60-CC7CC3C271D1}">
      <dsp:nvSpPr>
        <dsp:cNvPr id="0" name=""/>
        <dsp:cNvSpPr/>
      </dsp:nvSpPr>
      <dsp:spPr>
        <a:xfrm>
          <a:off x="187618" y="142462"/>
          <a:ext cx="341123" cy="3411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solidFill>
            <a:schemeClr val="accent2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42513C-B0DA-468B-933C-728A9359A67D}">
      <dsp:nvSpPr>
        <dsp:cNvPr id="0" name=""/>
        <dsp:cNvSpPr/>
      </dsp:nvSpPr>
      <dsp:spPr>
        <a:xfrm>
          <a:off x="716360" y="2911"/>
          <a:ext cx="8888815" cy="6202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641" tIns="65641" rIns="65641" bIns="6564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bg2"/>
              </a:solidFill>
            </a:rPr>
            <a:t>►  Hybrid phrase detection: </a:t>
          </a:r>
          <a:r>
            <a:rPr lang="en-US" sz="1400" kern="1200" dirty="0" err="1">
              <a:solidFill>
                <a:schemeClr val="bg2"/>
              </a:solidFill>
            </a:rPr>
            <a:t>KeyBERT</a:t>
          </a:r>
          <a:r>
            <a:rPr lang="en-US" sz="1400" kern="1200" dirty="0">
              <a:solidFill>
                <a:schemeClr val="bg2"/>
              </a:solidFill>
            </a:rPr>
            <a:t> + YAKE candidate </a:t>
          </a:r>
          <a:r>
            <a:rPr lang="en-US" sz="1400" kern="1200" dirty="0" err="1">
              <a:solidFill>
                <a:schemeClr val="bg2"/>
              </a:solidFill>
            </a:rPr>
            <a:t>keyphrases</a:t>
          </a:r>
          <a:r>
            <a:rPr lang="en-US" sz="1400" kern="1200" dirty="0">
              <a:solidFill>
                <a:schemeClr val="bg2"/>
              </a:solidFill>
            </a:rPr>
            <a:t>, filtered by semantic similarity (threshold 0.65) to 120 curated AI and entrepreneurship seed terms; </a:t>
          </a:r>
          <a:r>
            <a:rPr lang="en-US" sz="1400" kern="1200" dirty="0" err="1">
              <a:solidFill>
                <a:schemeClr val="bg2"/>
              </a:solidFill>
            </a:rPr>
            <a:t>gensim</a:t>
          </a:r>
          <a:r>
            <a:rPr lang="en-US" sz="1400" kern="1200" dirty="0">
              <a:solidFill>
                <a:schemeClr val="bg2"/>
              </a:solidFill>
            </a:rPr>
            <a:t> NPMI collocations add statistical phrases.</a:t>
          </a:r>
        </a:p>
      </dsp:txBody>
      <dsp:txXfrm>
        <a:off x="716360" y="2911"/>
        <a:ext cx="8888815" cy="620225"/>
      </dsp:txXfrm>
    </dsp:sp>
    <dsp:sp modelId="{86B64262-AB37-44CB-806E-56C4C592E6D8}">
      <dsp:nvSpPr>
        <dsp:cNvPr id="0" name=""/>
        <dsp:cNvSpPr/>
      </dsp:nvSpPr>
      <dsp:spPr>
        <a:xfrm>
          <a:off x="0" y="778193"/>
          <a:ext cx="9605176" cy="620225"/>
        </a:xfrm>
        <a:prstGeom prst="roundRect">
          <a:avLst>
            <a:gd name="adj" fmla="val 10000"/>
          </a:avLst>
        </a:prstGeom>
        <a:solidFill>
          <a:schemeClr val="accent1">
            <a:tint val="55000"/>
            <a:hueOff val="0"/>
            <a:satOff val="0"/>
            <a:lumOff val="0"/>
            <a:alphaOff val="0"/>
          </a:schemeClr>
        </a:solidFill>
        <a:ln>
          <a:solidFill>
            <a:schemeClr val="accent2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B94159-26EB-4F42-B606-DB41E9D02730}">
      <dsp:nvSpPr>
        <dsp:cNvPr id="0" name=""/>
        <dsp:cNvSpPr/>
      </dsp:nvSpPr>
      <dsp:spPr>
        <a:xfrm>
          <a:off x="187618" y="917744"/>
          <a:ext cx="341123" cy="3411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accent2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562049-C46A-49AC-BD93-C194E3BC49C8}">
      <dsp:nvSpPr>
        <dsp:cNvPr id="0" name=""/>
        <dsp:cNvSpPr/>
      </dsp:nvSpPr>
      <dsp:spPr>
        <a:xfrm>
          <a:off x="716360" y="778193"/>
          <a:ext cx="8888815" cy="6202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641" tIns="65641" rIns="65641" bIns="6564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bg2"/>
              </a:solidFill>
            </a:rPr>
            <a:t>►  </a:t>
          </a:r>
          <a:r>
            <a:rPr lang="en-US" sz="1400" kern="1200" dirty="0" err="1">
              <a:solidFill>
                <a:schemeClr val="bg2"/>
              </a:solidFill>
            </a:rPr>
            <a:t>BERTopic</a:t>
          </a:r>
          <a:r>
            <a:rPr lang="en-US" sz="1400" kern="1200" dirty="0">
              <a:solidFill>
                <a:schemeClr val="bg2"/>
              </a:solidFill>
            </a:rPr>
            <a:t> (</a:t>
          </a:r>
          <a:r>
            <a:rPr lang="en-US" sz="1400" kern="1200" dirty="0" err="1">
              <a:solidFill>
                <a:schemeClr val="bg2"/>
              </a:solidFill>
            </a:rPr>
            <a:t>MiniLM</a:t>
          </a:r>
          <a:r>
            <a:rPr lang="en-US" sz="1400" kern="1200" dirty="0">
              <a:solidFill>
                <a:schemeClr val="bg2"/>
              </a:solidFill>
            </a:rPr>
            <a:t> sentence embeddings + UMAP + HDBSCAN) on phrase-enhanced documents.</a:t>
          </a:r>
        </a:p>
      </dsp:txBody>
      <dsp:txXfrm>
        <a:off x="716360" y="778193"/>
        <a:ext cx="8888815" cy="620225"/>
      </dsp:txXfrm>
    </dsp:sp>
    <dsp:sp modelId="{3261C109-1E53-4AF6-ACCE-AC4F47DFE3B9}">
      <dsp:nvSpPr>
        <dsp:cNvPr id="0" name=""/>
        <dsp:cNvSpPr/>
      </dsp:nvSpPr>
      <dsp:spPr>
        <a:xfrm>
          <a:off x="0" y="1553474"/>
          <a:ext cx="9605176" cy="620225"/>
        </a:xfrm>
        <a:prstGeom prst="roundRect">
          <a:avLst>
            <a:gd name="adj" fmla="val 10000"/>
          </a:avLst>
        </a:prstGeom>
        <a:solidFill>
          <a:schemeClr val="accent1">
            <a:tint val="5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8F8F6E-306A-4040-A76A-324A95767959}">
      <dsp:nvSpPr>
        <dsp:cNvPr id="0" name=""/>
        <dsp:cNvSpPr/>
      </dsp:nvSpPr>
      <dsp:spPr>
        <a:xfrm>
          <a:off x="187618" y="1693025"/>
          <a:ext cx="341123" cy="3411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rnd" cmpd="sng" algn="ctr">
          <a:solidFill>
            <a:schemeClr val="accent2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4F7256-4A8F-48E8-95D5-62A0715F99C5}">
      <dsp:nvSpPr>
        <dsp:cNvPr id="0" name=""/>
        <dsp:cNvSpPr/>
      </dsp:nvSpPr>
      <dsp:spPr>
        <a:xfrm>
          <a:off x="716360" y="1553474"/>
          <a:ext cx="8888815" cy="6202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641" tIns="65641" rIns="65641" bIns="6564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bg2"/>
              </a:solidFill>
            </a:rPr>
            <a:t>►  One GLOBAL model as the comparability backbone feeding the knowledge graph, plus NATIVE models per query view for each dataset's own structure.</a:t>
          </a:r>
        </a:p>
      </dsp:txBody>
      <dsp:txXfrm>
        <a:off x="716360" y="1553474"/>
        <a:ext cx="8888815" cy="620225"/>
      </dsp:txXfrm>
    </dsp:sp>
    <dsp:sp modelId="{FEBC5886-D7F8-41C2-B8B9-5522FCB9945D}">
      <dsp:nvSpPr>
        <dsp:cNvPr id="0" name=""/>
        <dsp:cNvSpPr/>
      </dsp:nvSpPr>
      <dsp:spPr>
        <a:xfrm>
          <a:off x="0" y="2328756"/>
          <a:ext cx="9605176" cy="620225"/>
        </a:xfrm>
        <a:prstGeom prst="roundRect">
          <a:avLst>
            <a:gd name="adj" fmla="val 10000"/>
          </a:avLst>
        </a:prstGeom>
        <a:solidFill>
          <a:schemeClr val="accent1">
            <a:tint val="5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E7A228-80F0-4312-841C-00D2C50E383C}">
      <dsp:nvSpPr>
        <dsp:cNvPr id="0" name=""/>
        <dsp:cNvSpPr/>
      </dsp:nvSpPr>
      <dsp:spPr>
        <a:xfrm>
          <a:off x="187618" y="2468307"/>
          <a:ext cx="341123" cy="3411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accent2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AC2403-24D4-4184-91D8-00976FCD66D1}">
      <dsp:nvSpPr>
        <dsp:cNvPr id="0" name=""/>
        <dsp:cNvSpPr/>
      </dsp:nvSpPr>
      <dsp:spPr>
        <a:xfrm>
          <a:off x="716360" y="2328756"/>
          <a:ext cx="8888815" cy="6202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641" tIns="65641" rIns="65641" bIns="6564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bg2"/>
              </a:solidFill>
            </a:rPr>
            <a:t>►  Topic-count selection is not automated: independent grid searches per scope write metric tables and diagnostic graphs; final parameters require explicit human approval.</a:t>
          </a:r>
        </a:p>
      </dsp:txBody>
      <dsp:txXfrm>
        <a:off x="716360" y="2328756"/>
        <a:ext cx="8888815" cy="620225"/>
      </dsp:txXfrm>
    </dsp:sp>
    <dsp:sp modelId="{BC5C2DCE-C47B-49CB-BF03-88099A8E3E86}">
      <dsp:nvSpPr>
        <dsp:cNvPr id="0" name=""/>
        <dsp:cNvSpPr/>
      </dsp:nvSpPr>
      <dsp:spPr>
        <a:xfrm>
          <a:off x="0" y="3104037"/>
          <a:ext cx="9605176" cy="620225"/>
        </a:xfrm>
        <a:prstGeom prst="roundRect">
          <a:avLst>
            <a:gd name="adj" fmla="val 10000"/>
          </a:avLst>
        </a:prstGeom>
        <a:solidFill>
          <a:schemeClr val="accent1">
            <a:tint val="5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38D8DE-8F56-4C90-BF99-74397F878753}">
      <dsp:nvSpPr>
        <dsp:cNvPr id="0" name=""/>
        <dsp:cNvSpPr/>
      </dsp:nvSpPr>
      <dsp:spPr>
        <a:xfrm>
          <a:off x="187618" y="3243588"/>
          <a:ext cx="341123" cy="3411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rnd" cmpd="sng" algn="ctr">
          <a:solidFill>
            <a:schemeClr val="accent2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B4A383-408C-443F-B7D5-5D60808BB188}">
      <dsp:nvSpPr>
        <dsp:cNvPr id="0" name=""/>
        <dsp:cNvSpPr/>
      </dsp:nvSpPr>
      <dsp:spPr>
        <a:xfrm>
          <a:off x="716360" y="3104037"/>
          <a:ext cx="8888815" cy="6202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641" tIns="65641" rIns="65641" bIns="6564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bg2"/>
              </a:solidFill>
            </a:rPr>
            <a:t>►  Expensive passes (phrase detection, embeddings) are checkpointed and reused across optimization and final runs.</a:t>
          </a:r>
        </a:p>
      </dsp:txBody>
      <dsp:txXfrm>
        <a:off x="716360" y="3104037"/>
        <a:ext cx="8888815" cy="620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657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39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5210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64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281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30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548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10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623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426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136808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2783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54761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75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3437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588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1582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719593" y="1051560"/>
            <a:ext cx="1154927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 dirty="0">
                <a:solidFill>
                  <a:srgbClr val="158158"/>
                </a:solidFill>
                <a:latin typeface="Trebuchet MS"/>
              </a:rPr>
              <a:t>Specification Before Accumulation:
</a:t>
            </a:r>
            <a:r>
              <a:rPr sz="2000" b="1" i="0" dirty="0">
                <a:solidFill>
                  <a:srgbClr val="158158"/>
                </a:solidFill>
                <a:latin typeface="Trebuchet MS"/>
              </a:rPr>
              <a:t>A Platform for Diagnosing the AI Construct in Entrepreneurship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2698" y="2477768"/>
            <a:ext cx="9243391" cy="45719"/>
          </a:xfrm>
          <a:prstGeom prst="rect">
            <a:avLst/>
          </a:prstGeom>
          <a:solidFill>
            <a:srgbClr val="158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3F3F3F"/>
                </a:solidFill>
                <a:latin typeface="Arial"/>
              </a:rPr>
              <a:t>Research progress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8620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3F3F3F"/>
                </a:solidFill>
                <a:latin typeface="Arial"/>
              </a:rPr>
              <a:t>Kudzai Sauka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Doctoral research update |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6605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158158"/>
                </a:solidFill>
                <a:latin typeface="Trebuchet MS"/>
              </a:rPr>
              <a:t>The research problem: one label, many constructs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503920" cy="25400"/>
          </a:xfrm>
          <a:prstGeom prst="rect">
            <a:avLst/>
          </a:prstGeom>
          <a:solidFill>
            <a:srgbClr val="BFE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587203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3F7818"/>
                </a:solidFill>
                <a:latin typeface="Trebuchet MS"/>
              </a:rPr>
              <a:t>Specification before accumulation.</a:t>
            </a:r>
          </a:p>
        </p:txBody>
      </p:sp>
      <p:graphicFrame>
        <p:nvGraphicFramePr>
          <p:cNvPr id="7" name="TextBox 3">
            <a:extLst>
              <a:ext uri="{FF2B5EF4-FFF2-40B4-BE49-F238E27FC236}">
                <a16:creationId xmlns:a16="http://schemas.microsoft.com/office/drawing/2014/main" id="{9B3F6746-C202-02F6-24DC-7E94E6E12B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6087993"/>
              </p:ext>
            </p:extLst>
          </p:nvPr>
        </p:nvGraphicFramePr>
        <p:xfrm>
          <a:off x="457200" y="1234439"/>
          <a:ext cx="9080090" cy="3989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58158"/>
                </a:solidFill>
                <a:latin typeface="Trebuchet MS"/>
              </a:rPr>
              <a:t>Seven construct-specification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503920" cy="25400"/>
          </a:xfrm>
          <a:prstGeom prst="rect">
            <a:avLst/>
          </a:prstGeom>
          <a:solidFill>
            <a:srgbClr val="BFE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859536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rebuchet MS"/>
                        </a:rPr>
                        <a:t>Dimension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rebuchet MS"/>
                        </a:rPr>
                        <a:t>Question per paper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rebuchet MS"/>
                        </a:rPr>
                        <a:t>Diagnoses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Role / function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What role does AI play in the argument?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Role ambiguity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Type / form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dirty="0">
                          <a:solidFill>
                            <a:srgbClr val="3F3F3F"/>
                          </a:solidFill>
                          <a:latin typeface="Arial"/>
                        </a:rPr>
                        <a:t>What kind of AI? Phenomenon or method?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"AI is not all the same"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Mechanism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What exactly is AI doing that changes outcomes?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Black-box claims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Level of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Where does the AI-related claim operate?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Level clarity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Process / sequence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When and how does AI matter in the process?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Static-input treatment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Scope conditions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Under what conditions does the claim hold?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Missing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Definition / clarity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Is AI defined and distinguished from neighbours?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dirty="0">
                          <a:solidFill>
                            <a:srgbClr val="3F3F3F"/>
                          </a:solidFill>
                          <a:latin typeface="Arial"/>
                        </a:rPr>
                        <a:t>Loose-label usage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2356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Arial"/>
              </a:rPr>
              <a:t>Each dimension uses a controlled vocabulary; every code carries evidence from the paper, an epistemic label, and a confidence score. Vocabulary anchored in the construct-clarity literature (Suddaby 2010).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58158"/>
                </a:solidFill>
                <a:latin typeface="Trebuchet MS"/>
              </a:rPr>
              <a:t>Data: four Scopus queries, five analytical views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503920" cy="25400"/>
          </a:xfrm>
          <a:prstGeom prst="rect">
            <a:avLst/>
          </a:prstGeom>
          <a:solidFill>
            <a:srgbClr val="BFE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85953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rebuchet MS"/>
                        </a:rPr>
                        <a:t>View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rebuchet MS"/>
                        </a:rPr>
                        <a:t>Definition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rebuchet MS"/>
                        </a:rPr>
                        <a:t>Raw records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Query 1  Broad business and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Curated list of 695 business, management, and economics source titles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29,294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Query 2  FT50 journals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Financial Times 50 journal list, 2026 edition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Query 3  Leading entrepreneurship journals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Leading entrepreneurship journals following Burnell et al. (2026)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1,097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Query 4  Additional entrepreneurship journals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Wider set of entrepreneurship journals beyond the leading 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3F3F3F"/>
                          </a:solidFill>
                          <a:latin typeface="Arial"/>
                        </a:rPr>
                        <a:t>1,509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434840"/>
            <a:ext cx="8503920" cy="1297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dirty="0">
                <a:solidFill>
                  <a:srgbClr val="158158"/>
                </a:solidFill>
                <a:latin typeface="Arial"/>
              </a:rPr>
              <a:t>►  </a:t>
            </a:r>
            <a:r>
              <a:rPr sz="1300" dirty="0">
                <a:solidFill>
                  <a:srgbClr val="3F3F3F"/>
                </a:solidFill>
                <a:latin typeface="Arial"/>
              </a:rPr>
              <a:t>32,718 raw records pulled July 2026; queries share an AI search block and differ in journal universe.</a:t>
            </a:r>
          </a:p>
          <a:p>
            <a:pPr>
              <a:spcAft>
                <a:spcPts val="800"/>
              </a:spcAft>
            </a:pPr>
            <a:r>
              <a:rPr sz="1300" dirty="0">
                <a:solidFill>
                  <a:srgbClr val="158158"/>
                </a:solidFill>
                <a:latin typeface="Arial"/>
              </a:rPr>
              <a:t>►  </a:t>
            </a:r>
            <a:r>
              <a:rPr sz="1300" dirty="0">
                <a:solidFill>
                  <a:srgbClr val="3F3F3F"/>
                </a:solidFill>
                <a:latin typeface="Arial"/>
              </a:rPr>
              <a:t>Views are overlapping one-hot memberships on ONE deduplicated corpus, never separate corpora: the union of the four views is the full corpus.</a:t>
            </a:r>
          </a:p>
          <a:p>
            <a:pPr>
              <a:spcAft>
                <a:spcPts val="800"/>
              </a:spcAft>
            </a:pPr>
            <a:r>
              <a:rPr sz="1300" dirty="0">
                <a:solidFill>
                  <a:srgbClr val="158158"/>
                </a:solidFill>
                <a:latin typeface="Arial"/>
              </a:rPr>
              <a:t>►  </a:t>
            </a:r>
            <a:r>
              <a:rPr sz="1300" dirty="0">
                <a:solidFill>
                  <a:srgbClr val="3F3F3F"/>
                </a:solidFill>
                <a:latin typeface="Arial"/>
              </a:rPr>
              <a:t>Expensive per-paper steps run once; the five views (full corpus + Query 1-4) become five overlapping analytical datasets for contrasts.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292608"/>
            <a:ext cx="89601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158158"/>
                </a:solidFill>
                <a:latin typeface="Trebuchet MS"/>
              </a:rPr>
              <a:t>Corpus construction: provenance-preserving funnel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503920" cy="25400"/>
          </a:xfrm>
          <a:prstGeom prst="rect">
            <a:avLst/>
          </a:prstGeom>
          <a:solidFill>
            <a:srgbClr val="BFE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6035040" cy="566928"/>
          </a:xfrm>
          <a:prstGeom prst="roundRect">
            <a:avLst/>
          </a:prstGeom>
          <a:solidFill>
            <a:srgbClr val="158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>
                <a:solidFill>
                  <a:srgbClr val="FFFFFF"/>
                </a:solidFill>
                <a:latin typeface="Arial"/>
              </a:rPr>
              <a:t>Raw Scopus records (4 queries)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9400" y="1298448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158158"/>
                </a:solidFill>
                <a:latin typeface="Trebuchet MS"/>
              </a:rPr>
              <a:t>32,718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20824"/>
            <a:ext cx="6035040" cy="566928"/>
          </a:xfrm>
          <a:prstGeom prst="roundRect">
            <a:avLst/>
          </a:prstGeom>
          <a:solidFill>
            <a:srgbClr val="158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>
                <a:solidFill>
                  <a:srgbClr val="FFFFFF"/>
                </a:solidFill>
                <a:latin typeface="Arial"/>
              </a:rPr>
              <a:t>Deduplication (2,045 collapsed; 1,767 multi-query)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084831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158158"/>
                </a:solidFill>
                <a:latin typeface="Trebuchet MS"/>
              </a:rPr>
              <a:t>30,673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807208"/>
            <a:ext cx="6035040" cy="566928"/>
          </a:xfrm>
          <a:prstGeom prst="roundRect">
            <a:avLst/>
          </a:prstGeom>
          <a:solidFill>
            <a:srgbClr val="158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>
                <a:solidFill>
                  <a:srgbClr val="FFFFFF"/>
                </a:solidFill>
                <a:latin typeface="Arial"/>
              </a:rPr>
              <a:t>Source-title validation vs 704-journal universe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871215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158158"/>
                </a:solidFill>
                <a:latin typeface="Trebuchet MS"/>
              </a:rPr>
              <a:t>30,653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93591"/>
            <a:ext cx="6035040" cy="566928"/>
          </a:xfrm>
          <a:prstGeom prst="roundRect">
            <a:avLst/>
          </a:prstGeom>
          <a:solidFill>
            <a:srgbClr val="158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>
                <a:solidFill>
                  <a:srgbClr val="FFFFFF"/>
                </a:solidFill>
                <a:latin typeface="Arial"/>
              </a:rPr>
              <a:t>AI x business / entrepreneurship relevance filter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57599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158158"/>
                </a:solidFill>
                <a:latin typeface="Trebuchet MS"/>
              </a:rPr>
              <a:t>22,345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379976"/>
            <a:ext cx="6035040" cy="566928"/>
          </a:xfrm>
          <a:prstGeom prst="roundRect">
            <a:avLst/>
          </a:prstGeom>
          <a:solidFill>
            <a:srgbClr val="3F7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>
                <a:solidFill>
                  <a:srgbClr val="FFFFFF"/>
                </a:solidFill>
                <a:latin typeface="Arial"/>
              </a:rPr>
              <a:t>Strict AI x entrepreneurship subset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443984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3F7818"/>
                </a:solidFill>
                <a:latin typeface="Trebuchet MS"/>
              </a:rPr>
              <a:t>2,509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3492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F3F3F"/>
                </a:solidFill>
                <a:latin typeface="Arial"/>
              </a:rPr>
              <a:t>Views after filtering: Query 1 = 21,455 | Query 2 = 438 | Query 3 = 646 | Query 4 = 986 papers. Full rebuild is deterministic and takes 109 seconds; every paper keeps its query provenance, so all downstream statistics are traceable to their source queries.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292608"/>
            <a:ext cx="115731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158158"/>
                </a:solidFill>
                <a:latin typeface="Trebuchet MS"/>
              </a:rPr>
              <a:t>Performance analysis: publication growth 2000-2026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503920" cy="25400"/>
          </a:xfrm>
          <a:prstGeom prst="rect">
            <a:avLst/>
          </a:prstGeom>
          <a:solidFill>
            <a:srgbClr val="BFE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8086233"/>
              </p:ext>
            </p:extLst>
          </p:nvPr>
        </p:nvGraphicFramePr>
        <p:xfrm>
          <a:off x="457200" y="1188720"/>
          <a:ext cx="84124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80644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888888"/>
                </a:solidFill>
                <a:latin typeface="Arial"/>
              </a:rPr>
              <a:t>Annual output grows ~7x between 2019 and 2025 (618 to 3,998 papers/yr; 2026 year to date). The strict AI x entrepreneurship stream grows even faster (53 to 569). Accumulation is accelerating while the construct remains under-specified.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318" y="292608"/>
            <a:ext cx="9032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158158"/>
                </a:solidFill>
                <a:latin typeface="Trebuchet MS"/>
              </a:rPr>
              <a:t>Enrichment I: seed-guided topics with a human approval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194807" y="848802"/>
            <a:ext cx="8503920" cy="25400"/>
          </a:xfrm>
          <a:prstGeom prst="rect">
            <a:avLst/>
          </a:prstGeom>
          <a:solidFill>
            <a:srgbClr val="BFE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extBox 3">
            <a:extLst>
              <a:ext uri="{FF2B5EF4-FFF2-40B4-BE49-F238E27FC236}">
                <a16:creationId xmlns:a16="http://schemas.microsoft.com/office/drawing/2014/main" id="{04F38FBF-3956-91D6-2AF1-52A638FD643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6017036"/>
              </p:ext>
            </p:extLst>
          </p:nvPr>
        </p:nvGraphicFramePr>
        <p:xfrm>
          <a:off x="111318" y="1234439"/>
          <a:ext cx="9605176" cy="372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58158"/>
                </a:solidFill>
                <a:latin typeface="Trebuchet MS"/>
              </a:rPr>
              <a:t>Enrichment II: LLM specification coding as measurement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503920" cy="25400"/>
          </a:xfrm>
          <a:prstGeom prst="rect">
            <a:avLst/>
          </a:prstGeom>
          <a:solidFill>
            <a:srgbClr val="BFE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8503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158158"/>
                </a:solidFill>
                <a:latin typeface="Arial"/>
              </a:rPr>
              <a:t>►  </a:t>
            </a:r>
            <a:r>
              <a:rPr sz="1350">
                <a:solidFill>
                  <a:srgbClr val="3F3F3F"/>
                </a:solidFill>
                <a:latin typeface="Arial"/>
              </a:rPr>
              <a:t>Every paper coded on the seven dimensions from title, abstract, and author keywords; strict JSON schema enforces the controlled vocabularies.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58158"/>
                </a:solidFill>
                <a:latin typeface="Arial"/>
              </a:rPr>
              <a:t>►  </a:t>
            </a:r>
            <a:r>
              <a:rPr sz="1350">
                <a:solidFill>
                  <a:srgbClr val="3F3F3F"/>
                </a:solidFill>
                <a:latin typeface="Arial"/>
              </a:rPr>
              <a:t>Evidence before code: each dimension returns a quote or close paraphrase, an epistemic label (stated / inferred / absent), and a calibrated confidence score.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58158"/>
                </a:solidFill>
                <a:latin typeface="Arial"/>
              </a:rPr>
              <a:t>►  </a:t>
            </a:r>
            <a:r>
              <a:rPr sz="1350">
                <a:solidFill>
                  <a:srgbClr val="3F3F3F"/>
                </a:solidFill>
                <a:latin typeface="Arial"/>
              </a:rPr>
              <a:t>Coding discipline in the prompt: conservative defaults, no inference presented as statement, an adversarial self-check on load-bearing codes, and explicit flagging of dimensions that require full-text reading.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58158"/>
                </a:solidFill>
                <a:latin typeface="Arial"/>
              </a:rPr>
              <a:t>►  </a:t>
            </a:r>
            <a:r>
              <a:rPr sz="1350">
                <a:solidFill>
                  <a:srgbClr val="3F3F3F"/>
                </a:solidFill>
                <a:latin typeface="Arial"/>
              </a:rPr>
              <a:t>Multi-model inter-rater design: each study model (Llama 3.2, Qwen 3.5, GPT-4.1-nano, plus a research-grade model) codes the COMPLETE corpus as an independent rater.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58158"/>
                </a:solidFill>
                <a:latin typeface="Arial"/>
              </a:rPr>
              <a:t>►  </a:t>
            </a:r>
            <a:r>
              <a:rPr sz="1350">
                <a:solidFill>
                  <a:srgbClr val="3F3F3F"/>
                </a:solidFill>
                <a:latin typeface="Arial"/>
              </a:rPr>
              <a:t>No model-selection tournament: all outputs are research data; inter-rater reliability is computed across models for the full corpus and each query view.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292608"/>
            <a:ext cx="118116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158158"/>
                </a:solidFill>
                <a:latin typeface="Trebuchet MS"/>
              </a:rPr>
              <a:t>Human-in-the-loop curation with a complete audit trail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503920" cy="25400"/>
          </a:xfrm>
          <a:prstGeom prst="rect">
            <a:avLst/>
          </a:prstGeom>
          <a:solidFill>
            <a:srgbClr val="BFE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9736" y="2013668"/>
            <a:ext cx="923544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 dirty="0">
                <a:solidFill>
                  <a:srgbClr val="158158"/>
                </a:solidFill>
                <a:latin typeface="Arial"/>
              </a:rPr>
              <a:t>►  </a:t>
            </a:r>
            <a:r>
              <a:rPr sz="1350" dirty="0">
                <a:solidFill>
                  <a:srgbClr val="3F3F3F"/>
                </a:solidFill>
                <a:latin typeface="Arial"/>
              </a:rPr>
              <a:t>Auto-accept only when evidence is 'stated' and confidence &gt;= 0.8; everything else queues for human review, least confident first, one dimension at a time.</a:t>
            </a:r>
          </a:p>
          <a:p>
            <a:pPr>
              <a:spcAft>
                <a:spcPts val="800"/>
              </a:spcAft>
            </a:pPr>
            <a:r>
              <a:rPr sz="1350" dirty="0">
                <a:solidFill>
                  <a:srgbClr val="158158"/>
                </a:solidFill>
                <a:latin typeface="Arial"/>
              </a:rPr>
              <a:t>►  </a:t>
            </a:r>
            <a:r>
              <a:rPr sz="1350" dirty="0">
                <a:solidFill>
                  <a:srgbClr val="3F3F3F"/>
                </a:solidFill>
                <a:latin typeface="Arial"/>
              </a:rPr>
              <a:t>The reader accepts or overrides each code against the paper's evidence; dimensions that honestly need the full paper (definition fit, theory use) can be deferred corpus-wide for a later full-text pass.</a:t>
            </a:r>
          </a:p>
          <a:p>
            <a:pPr>
              <a:spcAft>
                <a:spcPts val="800"/>
              </a:spcAft>
            </a:pPr>
            <a:r>
              <a:rPr sz="1350" dirty="0">
                <a:solidFill>
                  <a:srgbClr val="158158"/>
                </a:solidFill>
                <a:latin typeface="Arial"/>
              </a:rPr>
              <a:t>►  </a:t>
            </a:r>
            <a:r>
              <a:rPr sz="1350" dirty="0">
                <a:solidFill>
                  <a:srgbClr val="3F3F3F"/>
                </a:solidFill>
                <a:latin typeface="Arial"/>
              </a:rPr>
              <a:t>Human decisions live in a separate overrides file per model; the LLM originals are immutable, so what the model coded, what the human changed, and when, is always </a:t>
            </a:r>
            <a:r>
              <a:rPr sz="1350" dirty="0" err="1">
                <a:solidFill>
                  <a:srgbClr val="3F3F3F"/>
                </a:solidFill>
                <a:latin typeface="Arial"/>
              </a:rPr>
              <a:t>reconstructable</a:t>
            </a:r>
            <a:r>
              <a:rPr sz="1350" dirty="0">
                <a:solidFill>
                  <a:srgbClr val="3F3F3F"/>
                </a:solidFill>
                <a:latin typeface="Arial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50" dirty="0">
                <a:solidFill>
                  <a:srgbClr val="158158"/>
                </a:solidFill>
                <a:latin typeface="Arial"/>
              </a:rPr>
              <a:t>►  </a:t>
            </a:r>
            <a:r>
              <a:rPr sz="1350" dirty="0">
                <a:solidFill>
                  <a:srgbClr val="3F3F3F"/>
                </a:solidFill>
                <a:latin typeface="Arial"/>
              </a:rPr>
              <a:t>Curated exports carry a per-dimension status column (auto-accepted, human-accepted, human-overridden, deferred, unreviewed) for transparent downstream analysis.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58158"/>
                </a:solidFill>
                <a:latin typeface="Trebuchet MS"/>
              </a:rPr>
              <a:t>Preliminary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503920" cy="25400"/>
          </a:xfrm>
          <a:prstGeom prst="rect">
            <a:avLst/>
          </a:prstGeom>
          <a:solidFill>
            <a:srgbClr val="BFE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503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158158"/>
                </a:solidFill>
                <a:latin typeface="Arial"/>
              </a:rPr>
              <a:t>►  </a:t>
            </a:r>
            <a:r>
              <a:rPr sz="1350">
                <a:solidFill>
                  <a:srgbClr val="3F3F3F"/>
                </a:solidFill>
                <a:latin typeface="Arial"/>
              </a:rPr>
              <a:t>Corpus (final): 22,345 papers across five overlapping views; strict AI x entrepreneurship subset of 2,509; full provenance retained.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58158"/>
                </a:solidFill>
                <a:latin typeface="Arial"/>
              </a:rPr>
              <a:t>►  </a:t>
            </a:r>
            <a:r>
              <a:rPr sz="1350">
                <a:solidFill>
                  <a:srgbClr val="3F3F3F"/>
                </a:solidFill>
                <a:latin typeface="Arial"/>
              </a:rPr>
              <a:t>Phrase detection over 22,344 documents: 12,222 domain-relevant keyphrases retained (9,915 AI; 2,307 entrepreneurship), 16,159 statistical collocations; 206,070 generic phrases filtered out by seed-similarity.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58158"/>
                </a:solidFill>
                <a:latin typeface="Arial"/>
              </a:rPr>
              <a:t>►  </a:t>
            </a:r>
            <a:r>
              <a:rPr sz="1350">
                <a:solidFill>
                  <a:srgbClr val="3F3F3F"/>
                </a:solidFill>
                <a:latin typeface="Arial"/>
              </a:rPr>
              <a:t>Exploratory global BERTopic (fixed configuration, diagnostic only): 95 candidate topics, 17,423 papers assigned; validated counts await the human-reviewed grid optimization now built into the pipeline.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58158"/>
                </a:solidFill>
                <a:latin typeface="Arial"/>
              </a:rPr>
              <a:t>►  </a:t>
            </a:r>
            <a:r>
              <a:rPr sz="1350">
                <a:solidFill>
                  <a:srgbClr val="3F3F3F"/>
                </a:solidFill>
                <a:latin typeface="Arial"/>
              </a:rPr>
              <a:t>Specification coder verified end to end on a local model: schema-conformant profiles, evidence quoting real abstract text, honest confidence spread (0.0-0.9).</a:t>
            </a:r>
          </a:p>
          <a:p>
            <a:pPr lvl="1">
              <a:spcAft>
                <a:spcPts val="800"/>
              </a:spcAft>
            </a:pPr>
            <a:r>
              <a:rPr sz="1250">
                <a:solidFill>
                  <a:srgbClr val="888888"/>
                </a:solidFill>
                <a:latin typeface="Arial"/>
              </a:rPr>
              <a:t>–  </a:t>
            </a:r>
            <a:r>
              <a:rPr sz="1250">
                <a:solidFill>
                  <a:srgbClr val="3F3F3F"/>
                </a:solidFill>
                <a:latin typeface="Arial"/>
              </a:rPr>
              <a:t>Example: definition/construct clarity coded 'absent' at confidence 0.0 and flagged needs_full_text - precisely the behaviour the curation queue is designed to catch.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" y="292608"/>
            <a:ext cx="94779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158158"/>
                </a:solidFill>
                <a:latin typeface="Trebuchet MS"/>
              </a:rPr>
              <a:t>The evidence system: knowledge graph and research app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503920" cy="25400"/>
          </a:xfrm>
          <a:prstGeom prst="rect">
            <a:avLst/>
          </a:prstGeom>
          <a:solidFill>
            <a:srgbClr val="BFE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029571"/>
            <a:ext cx="8905461" cy="22698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 dirty="0">
                <a:solidFill>
                  <a:srgbClr val="158158"/>
                </a:solidFill>
                <a:latin typeface="Arial"/>
              </a:rPr>
              <a:t>►  </a:t>
            </a:r>
            <a:r>
              <a:rPr sz="1350" dirty="0">
                <a:solidFill>
                  <a:srgbClr val="3F3F3F"/>
                </a:solidFill>
                <a:latin typeface="Arial"/>
              </a:rPr>
              <a:t>One knowledge graph filtered per scope: Publication, Author, Journal, Year, Topic, Keyword, </a:t>
            </a:r>
            <a:r>
              <a:rPr sz="1350" dirty="0" err="1">
                <a:solidFill>
                  <a:srgbClr val="3F3F3F"/>
                </a:solidFill>
                <a:latin typeface="Arial"/>
              </a:rPr>
              <a:t>SearchQuery</a:t>
            </a:r>
            <a:r>
              <a:rPr sz="1350" dirty="0">
                <a:solidFill>
                  <a:srgbClr val="3F3F3F"/>
                </a:solidFill>
                <a:latin typeface="Arial"/>
              </a:rPr>
              <a:t>, Institution, plus specification nodes (</a:t>
            </a:r>
            <a:r>
              <a:rPr sz="1350" dirty="0" err="1">
                <a:solidFill>
                  <a:srgbClr val="3F3F3F"/>
                </a:solidFill>
                <a:latin typeface="Arial"/>
              </a:rPr>
              <a:t>AIRole</a:t>
            </a:r>
            <a:r>
              <a:rPr sz="1350" dirty="0">
                <a:solidFill>
                  <a:srgbClr val="3F3F3F"/>
                </a:solidFill>
                <a:latin typeface="Arial"/>
              </a:rPr>
              <a:t>, </a:t>
            </a:r>
            <a:r>
              <a:rPr sz="1350" dirty="0" err="1">
                <a:solidFill>
                  <a:srgbClr val="3F3F3F"/>
                </a:solidFill>
                <a:latin typeface="Arial"/>
              </a:rPr>
              <a:t>AIType</a:t>
            </a:r>
            <a:r>
              <a:rPr sz="1350" dirty="0">
                <a:solidFill>
                  <a:srgbClr val="3F3F3F"/>
                </a:solidFill>
                <a:latin typeface="Arial"/>
              </a:rPr>
              <a:t>, Mechanism, </a:t>
            </a:r>
            <a:r>
              <a:rPr sz="1350" dirty="0" err="1">
                <a:solidFill>
                  <a:srgbClr val="3F3F3F"/>
                </a:solidFill>
                <a:latin typeface="Arial"/>
              </a:rPr>
              <a:t>LevelOfAnalysis</a:t>
            </a:r>
            <a:r>
              <a:rPr sz="1350" dirty="0">
                <a:solidFill>
                  <a:srgbClr val="3F3F3F"/>
                </a:solidFill>
                <a:latin typeface="Arial"/>
              </a:rPr>
              <a:t>, </a:t>
            </a:r>
            <a:r>
              <a:rPr sz="1350" dirty="0" err="1">
                <a:solidFill>
                  <a:srgbClr val="3F3F3F"/>
                </a:solidFill>
                <a:latin typeface="Arial"/>
              </a:rPr>
              <a:t>ProcessStage</a:t>
            </a:r>
            <a:r>
              <a:rPr sz="1350" dirty="0">
                <a:solidFill>
                  <a:srgbClr val="3F3F3F"/>
                </a:solidFill>
                <a:latin typeface="Arial"/>
              </a:rPr>
              <a:t>, </a:t>
            </a:r>
            <a:r>
              <a:rPr sz="1350" dirty="0" err="1">
                <a:solidFill>
                  <a:srgbClr val="3F3F3F"/>
                </a:solidFill>
                <a:latin typeface="Arial"/>
              </a:rPr>
              <a:t>ScopeCondition</a:t>
            </a:r>
            <a:r>
              <a:rPr sz="1350" dirty="0">
                <a:solidFill>
                  <a:srgbClr val="3F3F3F"/>
                </a:solidFill>
                <a:latin typeface="Arial"/>
              </a:rPr>
              <a:t>, </a:t>
            </a:r>
            <a:r>
              <a:rPr sz="1350" dirty="0" err="1">
                <a:solidFill>
                  <a:srgbClr val="3F3F3F"/>
                </a:solidFill>
                <a:latin typeface="Arial"/>
              </a:rPr>
              <a:t>DefinitionClarity</a:t>
            </a:r>
            <a:r>
              <a:rPr sz="1350" dirty="0">
                <a:solidFill>
                  <a:srgbClr val="3F3F3F"/>
                </a:solidFill>
                <a:latin typeface="Arial"/>
              </a:rPr>
              <a:t>, </a:t>
            </a:r>
            <a:r>
              <a:rPr sz="1350" dirty="0" err="1">
                <a:solidFill>
                  <a:srgbClr val="3F3F3F"/>
                </a:solidFill>
                <a:latin typeface="Arial"/>
              </a:rPr>
              <a:t>SpecificationProblem</a:t>
            </a:r>
            <a:r>
              <a:rPr sz="1350" dirty="0">
                <a:solidFill>
                  <a:srgbClr val="3F3F3F"/>
                </a:solidFill>
                <a:latin typeface="Arial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1350" dirty="0">
                <a:solidFill>
                  <a:srgbClr val="158158"/>
                </a:solidFill>
                <a:latin typeface="Arial"/>
              </a:rPr>
              <a:t>►  </a:t>
            </a:r>
            <a:r>
              <a:rPr sz="1350" dirty="0">
                <a:solidFill>
                  <a:srgbClr val="3F3F3F"/>
                </a:solidFill>
                <a:latin typeface="Arial"/>
              </a:rPr>
              <a:t>Internal citation edges (CITES) resolved by DOI matching within the corpus; Neo4j via Docker with a CSV fallback mode.</a:t>
            </a:r>
          </a:p>
          <a:p>
            <a:pPr>
              <a:spcAft>
                <a:spcPts val="800"/>
              </a:spcAft>
            </a:pPr>
            <a:r>
              <a:rPr sz="1350" dirty="0">
                <a:solidFill>
                  <a:srgbClr val="158158"/>
                </a:solidFill>
                <a:latin typeface="Arial"/>
              </a:rPr>
              <a:t>►  </a:t>
            </a:r>
            <a:r>
              <a:rPr sz="1350" dirty="0" err="1">
                <a:solidFill>
                  <a:srgbClr val="3F3F3F"/>
                </a:solidFill>
                <a:latin typeface="Arial"/>
              </a:rPr>
              <a:t>FastAPI</a:t>
            </a:r>
            <a:r>
              <a:rPr sz="1350" dirty="0">
                <a:solidFill>
                  <a:srgbClr val="3F3F3F"/>
                </a:solidFill>
                <a:latin typeface="Arial"/>
              </a:rPr>
              <a:t> research app: analytics dashboard with per-year performance analysis and in-text citations; interactive knowledge-graph explorer with per-scope filtering.</a:t>
            </a:r>
          </a:p>
          <a:p>
            <a:pPr>
              <a:spcAft>
                <a:spcPts val="800"/>
              </a:spcAft>
            </a:pPr>
            <a:r>
              <a:rPr sz="1350" dirty="0">
                <a:solidFill>
                  <a:srgbClr val="158158"/>
                </a:solidFill>
                <a:latin typeface="Arial"/>
              </a:rPr>
              <a:t>►  </a:t>
            </a:r>
            <a:r>
              <a:rPr sz="1350" dirty="0">
                <a:solidFill>
                  <a:srgbClr val="3F3F3F"/>
                </a:solidFill>
                <a:latin typeface="Arial"/>
              </a:rPr>
              <a:t>Design goal: every statistic clickable back to its paper list - reviewers can inspect the evidence behind every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58158"/>
                </a:solidFill>
                <a:latin typeface="Trebuchet MS"/>
              </a:rPr>
              <a:t>Direction: from instrumentation to findings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503920" cy="25400"/>
          </a:xfrm>
          <a:prstGeom prst="rect">
            <a:avLst/>
          </a:prstGeom>
          <a:solidFill>
            <a:srgbClr val="BFE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503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158158"/>
                </a:solidFill>
                <a:latin typeface="Arial"/>
              </a:rPr>
              <a:t>►  </a:t>
            </a:r>
            <a:r>
              <a:rPr sz="1350">
                <a:solidFill>
                  <a:srgbClr val="3F3F3F"/>
                </a:solidFill>
                <a:latin typeface="Arial"/>
              </a:rPr>
              <a:t>Run the full multi-model specification experiment (sequentially per model), curate every model, and compute inter-rater reliability across models and scopes.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58158"/>
                </a:solidFill>
                <a:latin typeface="Arial"/>
              </a:rPr>
              <a:t>►  </a:t>
            </a:r>
            <a:r>
              <a:rPr sz="1350">
                <a:solidFill>
                  <a:srgbClr val="3F3F3F"/>
                </a:solidFill>
                <a:latin typeface="Arial"/>
              </a:rPr>
              <a:t>Approve topic-model parameters from the five-scope grid diagnostics; train the final global and native models.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58158"/>
                </a:solidFill>
                <a:latin typeface="Arial"/>
              </a:rPr>
              <a:t>►  </a:t>
            </a:r>
            <a:r>
              <a:rPr sz="1350">
                <a:solidFill>
                  <a:srgbClr val="3F3F3F"/>
                </a:solidFill>
                <a:latin typeface="Arial"/>
              </a:rPr>
              <a:t>Optional VOS citation-connectivity cleaning; load the knowledge graph; verify the app.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58158"/>
                </a:solidFill>
                <a:latin typeface="Arial"/>
              </a:rPr>
              <a:t>►  </a:t>
            </a:r>
            <a:r>
              <a:rPr sz="1350">
                <a:solidFill>
                  <a:srgbClr val="3F3F3F"/>
                </a:solidFill>
                <a:latin typeface="Arial"/>
              </a:rPr>
              <a:t>Build the specification-and-contrast analysis: misspecification prevalence and trends; per-dimension convergence vs divergence under the same label; journal, topic, and query-view contrasts; AI type x mechanism and level x mechanism cross-tabs.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58158"/>
                </a:solidFill>
                <a:latin typeface="Arial"/>
              </a:rPr>
              <a:t>►  </a:t>
            </a:r>
            <a:r>
              <a:rPr sz="1350">
                <a:solidFill>
                  <a:srgbClr val="3F3F3F"/>
                </a:solidFill>
                <a:latin typeface="Arial"/>
              </a:rPr>
              <a:t>Deliverable: manuscript evidence tables showing where the field converges on what AI is, and where one label hides multiple constructs - the case for specification before accumulation.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6517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58158"/>
                </a:solidFill>
                <a:latin typeface="Trebuchet MS"/>
              </a:rP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70332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88888"/>
                </a:solidFill>
                <a:latin typeface="Arial"/>
              </a:rPr>
              <a:t>"AI must be specified as a role-, mechanism-, level-, process-, and scope-dependent construct."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9788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Arial"/>
              </a:rPr>
              <a:t>Lessen    University of Amsterdam    HvA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Kudzai Sauka |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798</TotalTime>
  <Words>1463</Words>
  <Application>Microsoft Office PowerPoint</Application>
  <PresentationFormat>Widescreen</PresentationFormat>
  <Paragraphs>108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Trebuchet MS</vt:lpstr>
      <vt:lpstr>Wingdings 3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Kudzai Sauka</cp:lastModifiedBy>
  <cp:revision>2</cp:revision>
  <dcterms:created xsi:type="dcterms:W3CDTF">2013-01-27T09:14:16Z</dcterms:created>
  <dcterms:modified xsi:type="dcterms:W3CDTF">2026-07-11T00:29:03Z</dcterms:modified>
  <cp:category/>
</cp:coreProperties>
</file>