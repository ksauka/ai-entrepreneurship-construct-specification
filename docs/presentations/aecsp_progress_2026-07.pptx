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Full corpus (22,345)</c:v>
                </c:pt>
              </c:strCache>
            </c:strRef>
          </c:tx>
          <c:spPr>
            <a:ln w="31750">
              <a:solidFill>
                <a:srgbClr val="158158"/>
              </a:solidFill>
            </a:ln>
          </c:spPr>
          <c:marker>
            <c:symbol val="none"/>
          </c:marker>
          <c:cat>
            <c:strRef>
              <c:f>Sheet1!$A$2:$A$28</c:f>
              <c:strCache>
                <c:ptCount val="27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  <c:pt idx="23">
                  <c:v>2023</c:v>
                </c:pt>
                <c:pt idx="24">
                  <c:v>2024</c:v>
                </c:pt>
                <c:pt idx="25">
                  <c:v>2025</c:v>
                </c:pt>
                <c:pt idx="26">
                  <c:v>2026</c:v>
                </c:pt>
              </c:strCache>
            </c:strRef>
          </c:cat>
          <c:val>
            <c:numRef>
              <c:f>Sheet1!$B$2:$B$28</c:f>
              <c:numCache>
                <c:formatCode>General</c:formatCode>
                <c:ptCount val="27"/>
                <c:pt idx="0">
                  <c:v>136</c:v>
                </c:pt>
                <c:pt idx="1">
                  <c:v>150</c:v>
                </c:pt>
                <c:pt idx="2">
                  <c:v>143</c:v>
                </c:pt>
                <c:pt idx="3">
                  <c:v>136</c:v>
                </c:pt>
                <c:pt idx="4">
                  <c:v>164</c:v>
                </c:pt>
                <c:pt idx="5">
                  <c:v>180</c:v>
                </c:pt>
                <c:pt idx="6">
                  <c:v>226</c:v>
                </c:pt>
                <c:pt idx="7">
                  <c:v>211</c:v>
                </c:pt>
                <c:pt idx="8">
                  <c:v>231</c:v>
                </c:pt>
                <c:pt idx="9">
                  <c:v>229</c:v>
                </c:pt>
                <c:pt idx="10">
                  <c:v>217</c:v>
                </c:pt>
                <c:pt idx="11">
                  <c:v>198</c:v>
                </c:pt>
                <c:pt idx="12">
                  <c:v>255</c:v>
                </c:pt>
                <c:pt idx="13">
                  <c:v>268</c:v>
                </c:pt>
                <c:pt idx="14">
                  <c:v>284</c:v>
                </c:pt>
                <c:pt idx="15">
                  <c:v>271</c:v>
                </c:pt>
                <c:pt idx="16">
                  <c:v>284</c:v>
                </c:pt>
                <c:pt idx="17">
                  <c:v>412</c:v>
                </c:pt>
                <c:pt idx="18">
                  <c:v>447</c:v>
                </c:pt>
                <c:pt idx="19">
                  <c:v>618</c:v>
                </c:pt>
                <c:pt idx="20">
                  <c:v>894</c:v>
                </c:pt>
                <c:pt idx="21">
                  <c:v>1119</c:v>
                </c:pt>
                <c:pt idx="22">
                  <c:v>1432</c:v>
                </c:pt>
                <c:pt idx="23">
                  <c:v>1779</c:v>
                </c:pt>
                <c:pt idx="24">
                  <c:v>2722</c:v>
                </c:pt>
                <c:pt idx="25">
                  <c:v>3998</c:v>
                </c:pt>
                <c:pt idx="26">
                  <c:v>3771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Strict AI x entrepreneurship (2,509)</c:v>
                </c:pt>
              </c:strCache>
            </c:strRef>
          </c:tx>
          <c:spPr>
            <a:ln w="31750">
              <a:solidFill>
                <a:srgbClr val="50B432"/>
              </a:solidFill>
            </a:ln>
          </c:spPr>
          <c:marker>
            <c:symbol val="none"/>
          </c:marker>
          <c:cat>
            <c:strRef>
              <c:f>Sheet1!$A$2:$A$28</c:f>
              <c:strCache>
                <c:ptCount val="27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  <c:pt idx="23">
                  <c:v>2023</c:v>
                </c:pt>
                <c:pt idx="24">
                  <c:v>2024</c:v>
                </c:pt>
                <c:pt idx="25">
                  <c:v>2025</c:v>
                </c:pt>
                <c:pt idx="26">
                  <c:v>2026</c:v>
                </c:pt>
              </c:strCache>
            </c:strRef>
          </c:cat>
          <c:val>
            <c:numRef>
              <c:f>Sheet1!$C$2:$C$28</c:f>
              <c:numCache>
                <c:formatCode>General</c:formatCode>
                <c:ptCount val="27"/>
                <c:pt idx="0">
                  <c:v>11</c:v>
                </c:pt>
                <c:pt idx="1">
                  <c:v>8</c:v>
                </c:pt>
                <c:pt idx="2">
                  <c:v>3</c:v>
                </c:pt>
                <c:pt idx="3">
                  <c:v>7</c:v>
                </c:pt>
                <c:pt idx="4">
                  <c:v>16</c:v>
                </c:pt>
                <c:pt idx="5">
                  <c:v>9</c:v>
                </c:pt>
                <c:pt idx="6">
                  <c:v>21</c:v>
                </c:pt>
                <c:pt idx="7">
                  <c:v>12</c:v>
                </c:pt>
                <c:pt idx="8">
                  <c:v>12</c:v>
                </c:pt>
                <c:pt idx="9">
                  <c:v>12</c:v>
                </c:pt>
                <c:pt idx="10">
                  <c:v>12</c:v>
                </c:pt>
                <c:pt idx="11">
                  <c:v>11</c:v>
                </c:pt>
                <c:pt idx="12">
                  <c:v>12</c:v>
                </c:pt>
                <c:pt idx="13">
                  <c:v>21</c:v>
                </c:pt>
                <c:pt idx="14">
                  <c:v>23</c:v>
                </c:pt>
                <c:pt idx="15">
                  <c:v>18</c:v>
                </c:pt>
                <c:pt idx="16">
                  <c:v>25</c:v>
                </c:pt>
                <c:pt idx="17">
                  <c:v>32</c:v>
                </c:pt>
                <c:pt idx="18">
                  <c:v>30</c:v>
                </c:pt>
                <c:pt idx="19">
                  <c:v>53</c:v>
                </c:pt>
                <c:pt idx="20">
                  <c:v>68</c:v>
                </c:pt>
                <c:pt idx="21">
                  <c:v>95</c:v>
                </c:pt>
                <c:pt idx="22">
                  <c:v>157</c:v>
                </c:pt>
                <c:pt idx="23">
                  <c:v>241</c:v>
                </c:pt>
                <c:pt idx="24">
                  <c:v>379</c:v>
                </c:pt>
                <c:pt idx="25">
                  <c:v>569</c:v>
                </c:pt>
                <c:pt idx="26">
                  <c:v>578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Arial"/>
              </a:defRPr>
            </a:pPr>
          </a:p>
        </c:txPr>
        <c:crossAx val="2118791784"/>
        <c:crosses val="autoZero"/>
      </c:valAx>
    </c:plotArea>
    <c:legend>
      <c:legendPos val="t"/>
      <c:layout/>
      <c:overlay val="0"/>
    </c:legend>
    <c:plotVisOnly val="1"/>
    <c:dispBlanksAs val="gap"/>
    <c:showDLblsOverMax val="0"/>
  </c:chart>
  <c:txPr>
    <a:bodyPr/>
    <a:lstStyle/>
    <a:p>
      <a:pPr>
        <a:defRPr sz="1000"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51560"/>
            <a:ext cx="84124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58158"/>
                </a:solidFill>
                <a:latin typeface="Trebuchet MS"/>
              </a:rPr>
              <a:t>Specification Before Accumulation:
A Platform for Diagnosing the AI Construct in Entrepreneurship Research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3310128"/>
            <a:ext cx="8412480" cy="27940"/>
          </a:xfrm>
          <a:prstGeom prst="rect">
            <a:avLst/>
          </a:prstGeom>
          <a:solidFill>
            <a:srgbClr val="158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F3F3F"/>
                </a:solidFill>
                <a:latin typeface="Arial"/>
              </a:rPr>
              <a:t>Research progress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8620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F3F3F"/>
                </a:solidFill>
                <a:latin typeface="Arial"/>
              </a:rPr>
              <a:t>Kudzai Sauka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89788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Arial"/>
              </a:rPr>
              <a:t>Lessen    University of Amsterdam    HvA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Arial"/>
              </a:rPr>
              <a:t>Doctoral research update |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8503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58158"/>
                </a:solidFill>
                <a:latin typeface="Trebuchet MS"/>
              </a:rPr>
              <a:t>The research problem: one label, many constructs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8503920" cy="25400"/>
          </a:xfrm>
          <a:prstGeom prst="rect">
            <a:avLst/>
          </a:prstGeom>
          <a:solidFill>
            <a:srgbClr val="BFE4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85039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50">
                <a:solidFill>
                  <a:srgbClr val="158158"/>
                </a:solidFill>
                <a:latin typeface="Arial"/>
              </a:rPr>
              <a:t>►  </a:t>
            </a:r>
            <a:r>
              <a:rPr sz="1450">
                <a:solidFill>
                  <a:srgbClr val="3F3F3F"/>
                </a:solidFill>
                <a:latin typeface="Arial"/>
              </a:rPr>
              <a:t>"AI" enters entrepreneurship research as if it were a single stable variable, yet papers attach different meanings to the same label.</a:t>
            </a:r>
          </a:p>
          <a:p>
            <a:pPr>
              <a:spcAft>
                <a:spcPts val="800"/>
              </a:spcAft>
            </a:pPr>
            <a:r>
              <a:rPr sz="1450">
                <a:solidFill>
                  <a:srgbClr val="158158"/>
                </a:solidFill>
                <a:latin typeface="Arial"/>
              </a:rPr>
              <a:t>►  </a:t>
            </a:r>
            <a:r>
              <a:rPr sz="1450">
                <a:solidFill>
                  <a:srgbClr val="3F3F3F"/>
                </a:solidFill>
                <a:latin typeface="Arial"/>
              </a:rPr>
              <a:t>A paper treating AI as a prediction tool, one treating it as a firm capability, and one treating it as an autonomous actor are not making the same theoretical claim.</a:t>
            </a:r>
          </a:p>
          <a:p>
            <a:pPr>
              <a:spcAft>
                <a:spcPts val="800"/>
              </a:spcAft>
            </a:pPr>
            <a:r>
              <a:rPr sz="1450">
                <a:solidFill>
                  <a:srgbClr val="158158"/>
                </a:solidFill>
                <a:latin typeface="Arial"/>
              </a:rPr>
              <a:t>►  </a:t>
            </a:r>
            <a:r>
              <a:rPr sz="1450">
                <a:solidFill>
                  <a:srgbClr val="3F3F3F"/>
                </a:solidFill>
                <a:latin typeface="Arial"/>
              </a:rPr>
              <a:t>Effects are reported without causal logic ("AI improves entrepreneurship"); definitions, levels of analysis, and scope conditions are frequently absent.</a:t>
            </a:r>
          </a:p>
          <a:p>
            <a:pPr>
              <a:spcAft>
                <a:spcPts val="800"/>
              </a:spcAft>
            </a:pPr>
            <a:r>
              <a:rPr sz="1450">
                <a:solidFill>
                  <a:srgbClr val="158158"/>
                </a:solidFill>
                <a:latin typeface="Arial"/>
              </a:rPr>
              <a:t>►  </a:t>
            </a:r>
            <a:r>
              <a:rPr sz="1450">
                <a:solidFill>
                  <a:srgbClr val="3F3F3F"/>
                </a:solidFill>
                <a:latin typeface="Arial"/>
              </a:rPr>
              <a:t>Central claim: AI should not enter entrepreneurship theory as a generic enabling variable. It must be specified as a role-, mechanism-, level-, process-, and scope-dependent construct.</a:t>
            </a:r>
          </a:p>
          <a:p>
            <a:pPr>
              <a:spcAft>
                <a:spcPts val="800"/>
              </a:spcAft>
            </a:pPr>
            <a:r>
              <a:rPr sz="1450">
                <a:solidFill>
                  <a:srgbClr val="158158"/>
                </a:solidFill>
                <a:latin typeface="Arial"/>
              </a:rPr>
              <a:t>►  </a:t>
            </a:r>
            <a:r>
              <a:rPr sz="1450">
                <a:solidFill>
                  <a:srgbClr val="3F3F3F"/>
                </a:solidFill>
                <a:latin typeface="Arial"/>
              </a:rPr>
              <a:t>The platform makes this specification problem visible, inspectable, and analytically defensible: traceable evidence, not narrative assertion.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8076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F7818"/>
                </a:solidFill>
                <a:latin typeface="Trebuchet MS"/>
              </a:rPr>
              <a:t>Specification before accumulation.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8503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58158"/>
                </a:solidFill>
                <a:latin typeface="Trebuchet MS"/>
              </a:rPr>
              <a:t>Seven construct-specification dimensions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8503920" cy="25400"/>
          </a:xfrm>
          <a:prstGeom prst="rect">
            <a:avLst/>
          </a:prstGeom>
          <a:solidFill>
            <a:srgbClr val="BFE4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34440"/>
          <a:ext cx="8595360" cy="3803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4480560"/>
                <a:gridCol w="2194560"/>
              </a:tblGrid>
              <a:tr h="47548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Trebuchet MS"/>
                        </a:rPr>
                        <a:t>Dimension</a:t>
                      </a:r>
                    </a:p>
                  </a:txBody>
                  <a:tcPr>
                    <a:solidFill>
                      <a:srgbClr val="1581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Trebuchet MS"/>
                        </a:rPr>
                        <a:t>Question per paper</a:t>
                      </a:r>
                    </a:p>
                  </a:txBody>
                  <a:tcPr>
                    <a:solidFill>
                      <a:srgbClr val="1581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Trebuchet MS"/>
                        </a:rPr>
                        <a:t>Diagnoses</a:t>
                      </a:r>
                    </a:p>
                  </a:txBody>
                  <a:tcPr>
                    <a:solidFill>
                      <a:srgbClr val="15815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3F3F3F"/>
                          </a:solidFill>
                          <a:latin typeface="Arial"/>
                        </a:rPr>
                        <a:t>Role / function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3F3F3F"/>
                          </a:solidFill>
                          <a:latin typeface="Arial"/>
                        </a:rPr>
                        <a:t>What role does AI play in the argument?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3F3F3F"/>
                          </a:solidFill>
                          <a:latin typeface="Arial"/>
                        </a:rPr>
                        <a:t>Role ambiguity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3F3F3F"/>
                          </a:solidFill>
                          <a:latin typeface="Arial"/>
                        </a:rPr>
                        <a:t>Type / form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3F3F3F"/>
                          </a:solidFill>
                          <a:latin typeface="Arial"/>
                        </a:rPr>
                        <a:t>What kind of AI? Phenomenon or method?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3F3F3F"/>
                          </a:solidFill>
                          <a:latin typeface="Arial"/>
                        </a:rPr>
                        <a:t>"AI is not all the same"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3F3F3F"/>
                          </a:solidFill>
                          <a:latin typeface="Arial"/>
                        </a:rPr>
                        <a:t>Mechanism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3F3F3F"/>
                          </a:solidFill>
                          <a:latin typeface="Arial"/>
                        </a:rPr>
                        <a:t>What exactly is AI doing that changes outcomes?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3F3F3F"/>
                          </a:solidFill>
                          <a:latin typeface="Arial"/>
                        </a:rPr>
                        <a:t>Black-box claims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3F3F3F"/>
                          </a:solidFill>
                          <a:latin typeface="Arial"/>
                        </a:rPr>
                        <a:t>Level of analysis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3F3F3F"/>
                          </a:solidFill>
                          <a:latin typeface="Arial"/>
                        </a:rPr>
                        <a:t>Where does the AI-related claim operate?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3F3F3F"/>
                          </a:solidFill>
                          <a:latin typeface="Arial"/>
                        </a:rPr>
                        <a:t>Level clarity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3F3F3F"/>
                          </a:solidFill>
                          <a:latin typeface="Arial"/>
                        </a:rPr>
                        <a:t>Process / sequence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3F3F3F"/>
                          </a:solidFill>
                          <a:latin typeface="Arial"/>
                        </a:rPr>
                        <a:t>When and how does AI matter in the process?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3F3F3F"/>
                          </a:solidFill>
                          <a:latin typeface="Arial"/>
                        </a:rPr>
                        <a:t>Static-input treatment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3F3F3F"/>
                          </a:solidFill>
                          <a:latin typeface="Arial"/>
                        </a:rPr>
                        <a:t>Scope conditions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3F3F3F"/>
                          </a:solidFill>
                          <a:latin typeface="Arial"/>
                        </a:rPr>
                        <a:t>Under what conditions does the claim hold?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3F3F3F"/>
                          </a:solidFill>
                          <a:latin typeface="Arial"/>
                        </a:rPr>
                        <a:t>Missing scope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3F3F3F"/>
                          </a:solidFill>
                          <a:latin typeface="Arial"/>
                        </a:rPr>
                        <a:t>Definition / clarity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3F3F3F"/>
                          </a:solidFill>
                          <a:latin typeface="Arial"/>
                        </a:rPr>
                        <a:t>Is AI defined and distinguished from neighbours?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3F3F3F"/>
                          </a:solidFill>
                          <a:latin typeface="Arial"/>
                        </a:rPr>
                        <a:t>Loose-label usage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62356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  <a:latin typeface="Arial"/>
              </a:rPr>
              <a:t>Each dimension uses a controlled vocabulary; every code carries evidence from the paper, an epistemic label, and a confidence score. Vocabulary anchored in the construct-clarity literature (Suddaby 2010).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8503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58158"/>
                </a:solidFill>
                <a:latin typeface="Trebuchet MS"/>
              </a:rPr>
              <a:t>Data: four Scopus queries, five analytical views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8503920" cy="25400"/>
          </a:xfrm>
          <a:prstGeom prst="rect">
            <a:avLst/>
          </a:prstGeom>
          <a:solidFill>
            <a:srgbClr val="BFE4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34440"/>
          <a:ext cx="859536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4023360"/>
                <a:gridCol w="1280160"/>
              </a:tblGrid>
              <a:tr h="56692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Trebuchet MS"/>
                        </a:rPr>
                        <a:t>View</a:t>
                      </a:r>
                    </a:p>
                  </a:txBody>
                  <a:tcPr>
                    <a:solidFill>
                      <a:srgbClr val="1581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Trebuchet MS"/>
                        </a:rPr>
                        <a:t>Definition</a:t>
                      </a:r>
                    </a:p>
                  </a:txBody>
                  <a:tcPr>
                    <a:solidFill>
                      <a:srgbClr val="1581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Trebuchet MS"/>
                        </a:rPr>
                        <a:t>Raw records</a:t>
                      </a:r>
                    </a:p>
                  </a:txBody>
                  <a:tcPr>
                    <a:solidFill>
                      <a:srgbClr val="15815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3F3F3F"/>
                          </a:solidFill>
                          <a:latin typeface="Arial"/>
                        </a:rPr>
                        <a:t>Query 1  Broad business and management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3F3F3F"/>
                          </a:solidFill>
                          <a:latin typeface="Arial"/>
                        </a:rPr>
                        <a:t>Curated list of 695 business, management, and economics source titles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3F3F3F"/>
                          </a:solidFill>
                          <a:latin typeface="Arial"/>
                        </a:rPr>
                        <a:t>29,294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3F3F3F"/>
                          </a:solidFill>
                          <a:latin typeface="Arial"/>
                        </a:rPr>
                        <a:t>Query 2  FT50 journals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3F3F3F"/>
                          </a:solidFill>
                          <a:latin typeface="Arial"/>
                        </a:rPr>
                        <a:t>Financial Times 50 journal list, 2026 edition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3F3F3F"/>
                          </a:solidFill>
                          <a:latin typeface="Arial"/>
                        </a:rPr>
                        <a:t>818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3F3F3F"/>
                          </a:solidFill>
                          <a:latin typeface="Arial"/>
                        </a:rPr>
                        <a:t>Query 3  Leading entrepreneurship journals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3F3F3F"/>
                          </a:solidFill>
                          <a:latin typeface="Arial"/>
                        </a:rPr>
                        <a:t>Leading entrepreneurship journals following Burnell et al. (2026)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3F3F3F"/>
                          </a:solidFill>
                          <a:latin typeface="Arial"/>
                        </a:rPr>
                        <a:t>1,097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3F3F3F"/>
                          </a:solidFill>
                          <a:latin typeface="Arial"/>
                        </a:rPr>
                        <a:t>Query 4  Additional entrepreneurship journals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3F3F3F"/>
                          </a:solidFill>
                          <a:latin typeface="Arial"/>
                        </a:rPr>
                        <a:t>Wider set of entrepreneurship journals beyond the leading list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3F3F3F"/>
                          </a:solidFill>
                          <a:latin typeface="Arial"/>
                        </a:rPr>
                        <a:t>1,509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434840"/>
            <a:ext cx="85039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58158"/>
                </a:solidFill>
                <a:latin typeface="Arial"/>
              </a:rPr>
              <a:t>►  </a:t>
            </a:r>
            <a:r>
              <a:rPr sz="1300">
                <a:solidFill>
                  <a:srgbClr val="3F3F3F"/>
                </a:solidFill>
                <a:latin typeface="Arial"/>
              </a:rPr>
              <a:t>32,718 raw records pulled July 2026; queries share an AI search block and differ in journal universe.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58158"/>
                </a:solidFill>
                <a:latin typeface="Arial"/>
              </a:rPr>
              <a:t>►  </a:t>
            </a:r>
            <a:r>
              <a:rPr sz="1300">
                <a:solidFill>
                  <a:srgbClr val="3F3F3F"/>
                </a:solidFill>
                <a:latin typeface="Arial"/>
              </a:rPr>
              <a:t>Views are overlapping one-hot memberships on ONE deduplicated corpus, never separate corpora: the union of the four views is the full corpus.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58158"/>
                </a:solidFill>
                <a:latin typeface="Arial"/>
              </a:rPr>
              <a:t>►  </a:t>
            </a:r>
            <a:r>
              <a:rPr sz="1300">
                <a:solidFill>
                  <a:srgbClr val="3F3F3F"/>
                </a:solidFill>
                <a:latin typeface="Arial"/>
              </a:rPr>
              <a:t>Expensive per-paper steps run once; the five views (full corpus + Query 1-4) become five overlapping analytical datasets for contrasts.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8503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58158"/>
                </a:solidFill>
                <a:latin typeface="Trebuchet MS"/>
              </a:rPr>
              <a:t>Corpus construction: provenance-preserving funnel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8503920" cy="25400"/>
          </a:xfrm>
          <a:prstGeom prst="rect">
            <a:avLst/>
          </a:prstGeom>
          <a:solidFill>
            <a:srgbClr val="BFE4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234440"/>
            <a:ext cx="6035040" cy="566928"/>
          </a:xfrm>
          <a:prstGeom prst="roundRect">
            <a:avLst/>
          </a:prstGeom>
          <a:solidFill>
            <a:srgbClr val="158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>
                <a:solidFill>
                  <a:srgbClr val="FFFFFF"/>
                </a:solidFill>
                <a:latin typeface="Arial"/>
              </a:rPr>
              <a:t>Raw Scopus records (4 queries)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29400" y="1298448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158158"/>
                </a:solidFill>
                <a:latin typeface="Trebuchet MS"/>
              </a:rPr>
              <a:t>32,718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20824"/>
            <a:ext cx="6035040" cy="566928"/>
          </a:xfrm>
          <a:prstGeom prst="roundRect">
            <a:avLst/>
          </a:prstGeom>
          <a:solidFill>
            <a:srgbClr val="158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>
                <a:solidFill>
                  <a:srgbClr val="FFFFFF"/>
                </a:solidFill>
                <a:latin typeface="Arial"/>
              </a:rPr>
              <a:t>Deduplication (2,045 collapsed; 1,767 multi-query)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2084831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158158"/>
                </a:solidFill>
                <a:latin typeface="Trebuchet MS"/>
              </a:rPr>
              <a:t>30,673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807208"/>
            <a:ext cx="6035040" cy="566928"/>
          </a:xfrm>
          <a:prstGeom prst="roundRect">
            <a:avLst/>
          </a:prstGeom>
          <a:solidFill>
            <a:srgbClr val="158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>
                <a:solidFill>
                  <a:srgbClr val="FFFFFF"/>
                </a:solidFill>
                <a:latin typeface="Arial"/>
              </a:rPr>
              <a:t>Source-title validation vs 704-journal universe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2871215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158158"/>
                </a:solidFill>
                <a:latin typeface="Trebuchet MS"/>
              </a:rPr>
              <a:t>30,653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593591"/>
            <a:ext cx="6035040" cy="566928"/>
          </a:xfrm>
          <a:prstGeom prst="roundRect">
            <a:avLst/>
          </a:prstGeom>
          <a:solidFill>
            <a:srgbClr val="158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>
                <a:solidFill>
                  <a:srgbClr val="FFFFFF"/>
                </a:solidFill>
                <a:latin typeface="Arial"/>
              </a:rPr>
              <a:t>AI x business / entrepreneurship relevance filter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657599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158158"/>
                </a:solidFill>
                <a:latin typeface="Trebuchet MS"/>
              </a:rPr>
              <a:t>22,345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379976"/>
            <a:ext cx="6035040" cy="566928"/>
          </a:xfrm>
          <a:prstGeom prst="roundRect">
            <a:avLst/>
          </a:prstGeom>
          <a:solidFill>
            <a:srgbClr val="3F7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>
                <a:solidFill>
                  <a:srgbClr val="FFFFFF"/>
                </a:solidFill>
                <a:latin typeface="Arial"/>
              </a:rPr>
              <a:t>Strict AI x entrepreneurship subset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4443984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3F7818"/>
                </a:solidFill>
                <a:latin typeface="Trebuchet MS"/>
              </a:rPr>
              <a:t>2,509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34924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F3F3F"/>
                </a:solidFill>
                <a:latin typeface="Arial"/>
              </a:rPr>
              <a:t>Views after filtering: Query 1 = 21,455 | Query 2 = 438 | Query 3 = 646 | Query 4 = 986 papers. Full rebuild is deterministic and takes 109 seconds; every paper keeps its query provenance, so all downstream statistics are traceable to their source queries.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8503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58158"/>
                </a:solidFill>
                <a:latin typeface="Trebuchet MS"/>
              </a:rPr>
              <a:t>Performance analysis: publication growth 2000-2026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8503920" cy="25400"/>
          </a:xfrm>
          <a:prstGeom prst="rect">
            <a:avLst/>
          </a:prstGeom>
          <a:solidFill>
            <a:srgbClr val="BFE4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188720"/>
          <a:ext cx="841248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80644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888888"/>
                </a:solidFill>
                <a:latin typeface="Arial"/>
              </a:rPr>
              <a:t>Annual output grows ~7x between 2019 and 2025 (618 to 3,998 papers/yr; 2026 year to date). The strict AI x entrepreneurship stream grows even faster (53 to 569). Accumulation is accelerating while the construct remains under-specified.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8503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58158"/>
                </a:solidFill>
                <a:latin typeface="Trebuchet MS"/>
              </a:rPr>
              <a:t>Enrichment I: seed-guided topics with a human approval gate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8503920" cy="25400"/>
          </a:xfrm>
          <a:prstGeom prst="rect">
            <a:avLst/>
          </a:prstGeom>
          <a:solidFill>
            <a:srgbClr val="BFE4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85039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50">
                <a:solidFill>
                  <a:srgbClr val="158158"/>
                </a:solidFill>
                <a:latin typeface="Arial"/>
              </a:rPr>
              <a:t>►  </a:t>
            </a:r>
            <a:r>
              <a:rPr sz="1350">
                <a:solidFill>
                  <a:srgbClr val="3F3F3F"/>
                </a:solidFill>
                <a:latin typeface="Arial"/>
              </a:rPr>
              <a:t>Hybrid phrase detection: KeyBERT + YAKE candidate keyphrases, filtered by semantic similarity (threshold 0.65) to 120 curated AI and entrepreneurship seed terms; gensim NPMI collocations add statistical phrases.</a:t>
            </a:r>
          </a:p>
          <a:p>
            <a:pPr>
              <a:spcAft>
                <a:spcPts val="800"/>
              </a:spcAft>
            </a:pPr>
            <a:r>
              <a:rPr sz="1350">
                <a:solidFill>
                  <a:srgbClr val="158158"/>
                </a:solidFill>
                <a:latin typeface="Arial"/>
              </a:rPr>
              <a:t>►  </a:t>
            </a:r>
            <a:r>
              <a:rPr sz="1350">
                <a:solidFill>
                  <a:srgbClr val="3F3F3F"/>
                </a:solidFill>
                <a:latin typeface="Arial"/>
              </a:rPr>
              <a:t>BERTopic (MiniLM sentence embeddings + UMAP + HDBSCAN) on phrase-enhanced documents.</a:t>
            </a:r>
          </a:p>
          <a:p>
            <a:pPr>
              <a:spcAft>
                <a:spcPts val="800"/>
              </a:spcAft>
            </a:pPr>
            <a:r>
              <a:rPr sz="1350">
                <a:solidFill>
                  <a:srgbClr val="158158"/>
                </a:solidFill>
                <a:latin typeface="Arial"/>
              </a:rPr>
              <a:t>►  </a:t>
            </a:r>
            <a:r>
              <a:rPr sz="1350">
                <a:solidFill>
                  <a:srgbClr val="3F3F3F"/>
                </a:solidFill>
                <a:latin typeface="Arial"/>
              </a:rPr>
              <a:t>One GLOBAL model as the comparability backbone feeding the knowledge graph, plus NATIVE models per query view for each dataset's own structure.</a:t>
            </a:r>
          </a:p>
          <a:p>
            <a:pPr>
              <a:spcAft>
                <a:spcPts val="800"/>
              </a:spcAft>
            </a:pPr>
            <a:r>
              <a:rPr sz="1350">
                <a:solidFill>
                  <a:srgbClr val="158158"/>
                </a:solidFill>
                <a:latin typeface="Arial"/>
              </a:rPr>
              <a:t>►  </a:t>
            </a:r>
            <a:r>
              <a:rPr sz="1350">
                <a:solidFill>
                  <a:srgbClr val="3F3F3F"/>
                </a:solidFill>
                <a:latin typeface="Arial"/>
              </a:rPr>
              <a:t>Topic-count selection is not automated: independent grid searches per scope write metric tables and diagnostic graphs; final parameters require explicit human approval.</a:t>
            </a:r>
          </a:p>
          <a:p>
            <a:pPr>
              <a:spcAft>
                <a:spcPts val="800"/>
              </a:spcAft>
            </a:pPr>
            <a:r>
              <a:rPr sz="1350">
                <a:solidFill>
                  <a:srgbClr val="158158"/>
                </a:solidFill>
                <a:latin typeface="Arial"/>
              </a:rPr>
              <a:t>►  </a:t>
            </a:r>
            <a:r>
              <a:rPr sz="1350">
                <a:solidFill>
                  <a:srgbClr val="3F3F3F"/>
                </a:solidFill>
                <a:latin typeface="Arial"/>
              </a:rPr>
              <a:t>Expensive passes (phrase detection, embeddings) are checkpointed and reused across optimization and final runs.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8503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58158"/>
                </a:solidFill>
                <a:latin typeface="Trebuchet MS"/>
              </a:rPr>
              <a:t>Enrichment II: LLM specification coding as measurement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8503920" cy="25400"/>
          </a:xfrm>
          <a:prstGeom prst="rect">
            <a:avLst/>
          </a:prstGeom>
          <a:solidFill>
            <a:srgbClr val="BFE4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85039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50">
                <a:solidFill>
                  <a:srgbClr val="158158"/>
                </a:solidFill>
                <a:latin typeface="Arial"/>
              </a:rPr>
              <a:t>►  </a:t>
            </a:r>
            <a:r>
              <a:rPr sz="1350">
                <a:solidFill>
                  <a:srgbClr val="3F3F3F"/>
                </a:solidFill>
                <a:latin typeface="Arial"/>
              </a:rPr>
              <a:t>Every paper coded on the seven dimensions from title, abstract, and author keywords; strict JSON schema enforces the controlled vocabularies.</a:t>
            </a:r>
          </a:p>
          <a:p>
            <a:pPr>
              <a:spcAft>
                <a:spcPts val="800"/>
              </a:spcAft>
            </a:pPr>
            <a:r>
              <a:rPr sz="1350">
                <a:solidFill>
                  <a:srgbClr val="158158"/>
                </a:solidFill>
                <a:latin typeface="Arial"/>
              </a:rPr>
              <a:t>►  </a:t>
            </a:r>
            <a:r>
              <a:rPr sz="1350">
                <a:solidFill>
                  <a:srgbClr val="3F3F3F"/>
                </a:solidFill>
                <a:latin typeface="Arial"/>
              </a:rPr>
              <a:t>Evidence before code: each dimension returns a quote or close paraphrase, an epistemic label (stated / inferred / absent), and a calibrated confidence score.</a:t>
            </a:r>
          </a:p>
          <a:p>
            <a:pPr>
              <a:spcAft>
                <a:spcPts val="800"/>
              </a:spcAft>
            </a:pPr>
            <a:r>
              <a:rPr sz="1350">
                <a:solidFill>
                  <a:srgbClr val="158158"/>
                </a:solidFill>
                <a:latin typeface="Arial"/>
              </a:rPr>
              <a:t>►  </a:t>
            </a:r>
            <a:r>
              <a:rPr sz="1350">
                <a:solidFill>
                  <a:srgbClr val="3F3F3F"/>
                </a:solidFill>
                <a:latin typeface="Arial"/>
              </a:rPr>
              <a:t>Coding discipline in the prompt: conservative defaults, no inference presented as statement, an adversarial self-check on load-bearing codes, and explicit flagging of dimensions that require full-text reading.</a:t>
            </a:r>
          </a:p>
          <a:p>
            <a:pPr>
              <a:spcAft>
                <a:spcPts val="800"/>
              </a:spcAft>
            </a:pPr>
            <a:r>
              <a:rPr sz="1350">
                <a:solidFill>
                  <a:srgbClr val="158158"/>
                </a:solidFill>
                <a:latin typeface="Arial"/>
              </a:rPr>
              <a:t>►  </a:t>
            </a:r>
            <a:r>
              <a:rPr sz="1350">
                <a:solidFill>
                  <a:srgbClr val="3F3F3F"/>
                </a:solidFill>
                <a:latin typeface="Arial"/>
              </a:rPr>
              <a:t>Multi-model inter-rater design: each study model (Llama 3.2, Qwen 3.5, GPT-4.1-nano, plus a research-grade model) codes the COMPLETE corpus as an independent rater.</a:t>
            </a:r>
          </a:p>
          <a:p>
            <a:pPr>
              <a:spcAft>
                <a:spcPts val="800"/>
              </a:spcAft>
            </a:pPr>
            <a:r>
              <a:rPr sz="1350">
                <a:solidFill>
                  <a:srgbClr val="158158"/>
                </a:solidFill>
                <a:latin typeface="Arial"/>
              </a:rPr>
              <a:t>►  </a:t>
            </a:r>
            <a:r>
              <a:rPr sz="1350">
                <a:solidFill>
                  <a:srgbClr val="3F3F3F"/>
                </a:solidFill>
                <a:latin typeface="Arial"/>
              </a:rPr>
              <a:t>No model-selection tournament: all outputs are research data; inter-rater reliability is computed across models for the full corpus and each query view.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8503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58158"/>
                </a:solidFill>
                <a:latin typeface="Trebuchet MS"/>
              </a:rPr>
              <a:t>Human-in-the-loop curation with a complete audit trail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8503920" cy="25400"/>
          </a:xfrm>
          <a:prstGeom prst="rect">
            <a:avLst/>
          </a:prstGeom>
          <a:solidFill>
            <a:srgbClr val="BFE4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85039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50">
                <a:solidFill>
                  <a:srgbClr val="158158"/>
                </a:solidFill>
                <a:latin typeface="Arial"/>
              </a:rPr>
              <a:t>►  </a:t>
            </a:r>
            <a:r>
              <a:rPr sz="1350">
                <a:solidFill>
                  <a:srgbClr val="3F3F3F"/>
                </a:solidFill>
                <a:latin typeface="Arial"/>
              </a:rPr>
              <a:t>Auto-accept only when evidence is 'stated' and confidence &gt;= 0.8; everything else queues for human review, least confident first, one dimension at a time.</a:t>
            </a:r>
          </a:p>
          <a:p>
            <a:pPr>
              <a:spcAft>
                <a:spcPts val="800"/>
              </a:spcAft>
            </a:pPr>
            <a:r>
              <a:rPr sz="1350">
                <a:solidFill>
                  <a:srgbClr val="158158"/>
                </a:solidFill>
                <a:latin typeface="Arial"/>
              </a:rPr>
              <a:t>►  </a:t>
            </a:r>
            <a:r>
              <a:rPr sz="1350">
                <a:solidFill>
                  <a:srgbClr val="3F3F3F"/>
                </a:solidFill>
                <a:latin typeface="Arial"/>
              </a:rPr>
              <a:t>The reader accepts or overrides each code against the paper's evidence; dimensions that honestly need the full paper (definition fit, theory use) can be deferred corpus-wide for a later full-text pass.</a:t>
            </a:r>
          </a:p>
          <a:p>
            <a:pPr>
              <a:spcAft>
                <a:spcPts val="800"/>
              </a:spcAft>
            </a:pPr>
            <a:r>
              <a:rPr sz="1350">
                <a:solidFill>
                  <a:srgbClr val="158158"/>
                </a:solidFill>
                <a:latin typeface="Arial"/>
              </a:rPr>
              <a:t>►  </a:t>
            </a:r>
            <a:r>
              <a:rPr sz="1350">
                <a:solidFill>
                  <a:srgbClr val="3F3F3F"/>
                </a:solidFill>
                <a:latin typeface="Arial"/>
              </a:rPr>
              <a:t>Human decisions live in a separate overrides file per model; the LLM originals are immutable, so what the model coded, what the human changed, and when, is always reconstructable.</a:t>
            </a:r>
          </a:p>
          <a:p>
            <a:pPr>
              <a:spcAft>
                <a:spcPts val="800"/>
              </a:spcAft>
            </a:pPr>
            <a:r>
              <a:rPr sz="1350">
                <a:solidFill>
                  <a:srgbClr val="158158"/>
                </a:solidFill>
                <a:latin typeface="Arial"/>
              </a:rPr>
              <a:t>►  </a:t>
            </a:r>
            <a:r>
              <a:rPr sz="1350">
                <a:solidFill>
                  <a:srgbClr val="3F3F3F"/>
                </a:solidFill>
                <a:latin typeface="Arial"/>
              </a:rPr>
              <a:t>Curated exports carry a per-dimension status column (auto-accepted, human-accepted, human-overridden, deferred, unreviewed) for transparent downstream analysis.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8503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58158"/>
                </a:solidFill>
                <a:latin typeface="Trebuchet MS"/>
              </a:rPr>
              <a:t>Preliminary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8503920" cy="25400"/>
          </a:xfrm>
          <a:prstGeom prst="rect">
            <a:avLst/>
          </a:prstGeom>
          <a:solidFill>
            <a:srgbClr val="BFE4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5039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50">
                <a:solidFill>
                  <a:srgbClr val="158158"/>
                </a:solidFill>
                <a:latin typeface="Arial"/>
              </a:rPr>
              <a:t>►  </a:t>
            </a:r>
            <a:r>
              <a:rPr sz="1350">
                <a:solidFill>
                  <a:srgbClr val="3F3F3F"/>
                </a:solidFill>
                <a:latin typeface="Arial"/>
              </a:rPr>
              <a:t>Corpus (final): 22,345 papers across five overlapping views; strict AI x entrepreneurship subset of 2,509; full provenance retained.</a:t>
            </a:r>
          </a:p>
          <a:p>
            <a:pPr>
              <a:spcAft>
                <a:spcPts val="800"/>
              </a:spcAft>
            </a:pPr>
            <a:r>
              <a:rPr sz="1350">
                <a:solidFill>
                  <a:srgbClr val="158158"/>
                </a:solidFill>
                <a:latin typeface="Arial"/>
              </a:rPr>
              <a:t>►  </a:t>
            </a:r>
            <a:r>
              <a:rPr sz="1350">
                <a:solidFill>
                  <a:srgbClr val="3F3F3F"/>
                </a:solidFill>
                <a:latin typeface="Arial"/>
              </a:rPr>
              <a:t>Phrase detection over 22,344 documents: 12,222 domain-relevant keyphrases retained (9,915 AI; 2,307 entrepreneurship), 16,159 statistical collocations; 206,070 generic phrases filtered out by seed-similarity.</a:t>
            </a:r>
          </a:p>
          <a:p>
            <a:pPr>
              <a:spcAft>
                <a:spcPts val="800"/>
              </a:spcAft>
            </a:pPr>
            <a:r>
              <a:rPr sz="1350">
                <a:solidFill>
                  <a:srgbClr val="158158"/>
                </a:solidFill>
                <a:latin typeface="Arial"/>
              </a:rPr>
              <a:t>►  </a:t>
            </a:r>
            <a:r>
              <a:rPr sz="1350">
                <a:solidFill>
                  <a:srgbClr val="3F3F3F"/>
                </a:solidFill>
                <a:latin typeface="Arial"/>
              </a:rPr>
              <a:t>Exploratory global BERTopic (fixed configuration, diagnostic only): 95 candidate topics, 17,423 papers assigned; validated counts await the human-reviewed grid optimization now built into the pipeline.</a:t>
            </a:r>
          </a:p>
          <a:p>
            <a:pPr>
              <a:spcAft>
                <a:spcPts val="800"/>
              </a:spcAft>
            </a:pPr>
            <a:r>
              <a:rPr sz="1350">
                <a:solidFill>
                  <a:srgbClr val="158158"/>
                </a:solidFill>
                <a:latin typeface="Arial"/>
              </a:rPr>
              <a:t>►  </a:t>
            </a:r>
            <a:r>
              <a:rPr sz="1350">
                <a:solidFill>
                  <a:srgbClr val="3F3F3F"/>
                </a:solidFill>
                <a:latin typeface="Arial"/>
              </a:rPr>
              <a:t>Specification coder verified end to end on a local model: schema-conformant profiles, evidence quoting real abstract text, honest confidence spread (0.0-0.9).</a:t>
            </a:r>
          </a:p>
          <a:p>
            <a:pPr lvl="1">
              <a:spcAft>
                <a:spcPts val="800"/>
              </a:spcAft>
            </a:pPr>
            <a:r>
              <a:rPr sz="1250">
                <a:solidFill>
                  <a:srgbClr val="888888"/>
                </a:solidFill>
                <a:latin typeface="Arial"/>
              </a:rPr>
              <a:t>–  </a:t>
            </a:r>
            <a:r>
              <a:rPr sz="1250">
                <a:solidFill>
                  <a:srgbClr val="3F3F3F"/>
                </a:solidFill>
                <a:latin typeface="Arial"/>
              </a:rPr>
              <a:t>Example: definition/construct clarity coded 'absent' at confidence 0.0 and flagged needs_full_text - precisely the behaviour the curation queue is designed to catch.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8503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58158"/>
                </a:solidFill>
                <a:latin typeface="Trebuchet MS"/>
              </a:rPr>
              <a:t>The evidence system: knowledge graph and research app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8503920" cy="25400"/>
          </a:xfrm>
          <a:prstGeom prst="rect">
            <a:avLst/>
          </a:prstGeom>
          <a:solidFill>
            <a:srgbClr val="BFE4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85039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50">
                <a:solidFill>
                  <a:srgbClr val="158158"/>
                </a:solidFill>
                <a:latin typeface="Arial"/>
              </a:rPr>
              <a:t>►  </a:t>
            </a:r>
            <a:r>
              <a:rPr sz="1350">
                <a:solidFill>
                  <a:srgbClr val="3F3F3F"/>
                </a:solidFill>
                <a:latin typeface="Arial"/>
              </a:rPr>
              <a:t>One knowledge graph filtered per scope: Publication, Author, Journal, Year, Topic, Keyword, SearchQuery, Institution, plus specification nodes (AIRole, AIType, Mechanism, LevelOfAnalysis, ProcessStage, ScopeCondition, DefinitionClarity, SpecificationProblem).</a:t>
            </a:r>
          </a:p>
          <a:p>
            <a:pPr>
              <a:spcAft>
                <a:spcPts val="800"/>
              </a:spcAft>
            </a:pPr>
            <a:r>
              <a:rPr sz="1350">
                <a:solidFill>
                  <a:srgbClr val="158158"/>
                </a:solidFill>
                <a:latin typeface="Arial"/>
              </a:rPr>
              <a:t>►  </a:t>
            </a:r>
            <a:r>
              <a:rPr sz="1350">
                <a:solidFill>
                  <a:srgbClr val="3F3F3F"/>
                </a:solidFill>
                <a:latin typeface="Arial"/>
              </a:rPr>
              <a:t>Internal citation edges (CITES) resolved by DOI matching within the corpus; Neo4j via Docker with a CSV fallback mode.</a:t>
            </a:r>
          </a:p>
          <a:p>
            <a:pPr>
              <a:spcAft>
                <a:spcPts val="800"/>
              </a:spcAft>
            </a:pPr>
            <a:r>
              <a:rPr sz="1350">
                <a:solidFill>
                  <a:srgbClr val="158158"/>
                </a:solidFill>
                <a:latin typeface="Arial"/>
              </a:rPr>
              <a:t>►  </a:t>
            </a:r>
            <a:r>
              <a:rPr sz="1350">
                <a:solidFill>
                  <a:srgbClr val="3F3F3F"/>
                </a:solidFill>
                <a:latin typeface="Arial"/>
              </a:rPr>
              <a:t>FastAPI research app: analytics dashboard with per-year performance analysis and in-text citations; interactive knowledge-graph explorer with per-scope filtering.</a:t>
            </a:r>
          </a:p>
          <a:p>
            <a:pPr>
              <a:spcAft>
                <a:spcPts val="800"/>
              </a:spcAft>
            </a:pPr>
            <a:r>
              <a:rPr sz="1350">
                <a:solidFill>
                  <a:srgbClr val="158158"/>
                </a:solidFill>
                <a:latin typeface="Arial"/>
              </a:rPr>
              <a:t>►  </a:t>
            </a:r>
            <a:r>
              <a:rPr sz="1350">
                <a:solidFill>
                  <a:srgbClr val="3F3F3F"/>
                </a:solidFill>
                <a:latin typeface="Arial"/>
              </a:rPr>
              <a:t>Design goal: every statistic clickable back to its paper list - reviewers can inspect the evidence behind every claim.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8503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58158"/>
                </a:solidFill>
                <a:latin typeface="Trebuchet MS"/>
              </a:rPr>
              <a:t>Direction: from instrumentation to findings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8503920" cy="25400"/>
          </a:xfrm>
          <a:prstGeom prst="rect">
            <a:avLst/>
          </a:prstGeom>
          <a:solidFill>
            <a:srgbClr val="BFE4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5039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50">
                <a:solidFill>
                  <a:srgbClr val="158158"/>
                </a:solidFill>
                <a:latin typeface="Arial"/>
              </a:rPr>
              <a:t>►  </a:t>
            </a:r>
            <a:r>
              <a:rPr sz="1350">
                <a:solidFill>
                  <a:srgbClr val="3F3F3F"/>
                </a:solidFill>
                <a:latin typeface="Arial"/>
              </a:rPr>
              <a:t>Run the full multi-model specification experiment (sequentially per model), curate every model, and compute inter-rater reliability across models and scopes.</a:t>
            </a:r>
          </a:p>
          <a:p>
            <a:pPr>
              <a:spcAft>
                <a:spcPts val="800"/>
              </a:spcAft>
            </a:pPr>
            <a:r>
              <a:rPr sz="1350">
                <a:solidFill>
                  <a:srgbClr val="158158"/>
                </a:solidFill>
                <a:latin typeface="Arial"/>
              </a:rPr>
              <a:t>►  </a:t>
            </a:r>
            <a:r>
              <a:rPr sz="1350">
                <a:solidFill>
                  <a:srgbClr val="3F3F3F"/>
                </a:solidFill>
                <a:latin typeface="Arial"/>
              </a:rPr>
              <a:t>Approve topic-model parameters from the five-scope grid diagnostics; train the final global and native models.</a:t>
            </a:r>
          </a:p>
          <a:p>
            <a:pPr>
              <a:spcAft>
                <a:spcPts val="800"/>
              </a:spcAft>
            </a:pPr>
            <a:r>
              <a:rPr sz="1350">
                <a:solidFill>
                  <a:srgbClr val="158158"/>
                </a:solidFill>
                <a:latin typeface="Arial"/>
              </a:rPr>
              <a:t>►  </a:t>
            </a:r>
            <a:r>
              <a:rPr sz="1350">
                <a:solidFill>
                  <a:srgbClr val="3F3F3F"/>
                </a:solidFill>
                <a:latin typeface="Arial"/>
              </a:rPr>
              <a:t>Optional VOS citation-connectivity cleaning; load the knowledge graph; verify the app.</a:t>
            </a:r>
          </a:p>
          <a:p>
            <a:pPr>
              <a:spcAft>
                <a:spcPts val="800"/>
              </a:spcAft>
            </a:pPr>
            <a:r>
              <a:rPr sz="1350">
                <a:solidFill>
                  <a:srgbClr val="158158"/>
                </a:solidFill>
                <a:latin typeface="Arial"/>
              </a:rPr>
              <a:t>►  </a:t>
            </a:r>
            <a:r>
              <a:rPr sz="1350">
                <a:solidFill>
                  <a:srgbClr val="3F3F3F"/>
                </a:solidFill>
                <a:latin typeface="Arial"/>
              </a:rPr>
              <a:t>Build the specification-and-contrast analysis: misspecification prevalence and trends; per-dimension convergence vs divergence under the same label; journal, topic, and query-view contrasts; AI type x mechanism and level x mechanism cross-tabs.</a:t>
            </a:r>
          </a:p>
          <a:p>
            <a:pPr>
              <a:spcAft>
                <a:spcPts val="800"/>
              </a:spcAft>
            </a:pPr>
            <a:r>
              <a:rPr sz="1350">
                <a:solidFill>
                  <a:srgbClr val="158158"/>
                </a:solidFill>
                <a:latin typeface="Arial"/>
              </a:rPr>
              <a:t>►  </a:t>
            </a:r>
            <a:r>
              <a:rPr sz="1350">
                <a:solidFill>
                  <a:srgbClr val="3F3F3F"/>
                </a:solidFill>
                <a:latin typeface="Arial"/>
              </a:rPr>
              <a:t>Deliverable: manuscript evidence tables showing where the field converges on what AI is, and where one label hides multiple constructs - the case for specification before accumulation.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65176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158158"/>
                </a:solidFill>
                <a:latin typeface="Trebuchet MS"/>
              </a:rP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70332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88888"/>
                </a:solidFill>
                <a:latin typeface="Arial"/>
              </a:rPr>
              <a:t>"AI must be specified as a role-, mechanism-, level-, process-, and scope-dependent construct."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89788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Arial"/>
              </a:rPr>
              <a:t>Lessen    University of Amsterdam    HvA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Arial"/>
              </a:rPr>
              <a:t>Kudzai Sauka | July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158158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